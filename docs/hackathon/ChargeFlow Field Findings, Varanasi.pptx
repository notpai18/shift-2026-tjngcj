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Say: "We spent a day with e-rickshaw drivers in Varanasi. This is what they told us, and what we built from it." Keep it to one breath; the evidence is the point. Fill in the team name and member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Say: seven of the nine drivers rent their vehicle by the day for roughly ₹380–400, and the rent includes charging. So the person who pays the electricity bill is the garage owner, not the driver. They charge about ten vehicles together in a small garage that doubles as quarters, with a room for the drivers. If asked how many garages: we saw a few and heard there are many across Varanasi; we do not have a count. Facts: A, B, C, D, F, G and I rent; E and H own their vehicles. B pays ₹300 rent plus ₹80 charging; G pays ₹300 plus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on stage, or skip and keep it for questions. Show it as proof of work; do not read it. Sample size is nine drivers, one city, one day, and every figure is as the driver reported it, so treat them as approximate. C reported eight dry cells (LFP); we have not confirmed the chemistry. Drivers A, B, C, D, F, G and I rent; E and H own. Charging windows are the times drivers gave for charging, not meter logs. A and I gave a second window and C also charges 3–7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Say: this is when each driver says charging runs. Six of the eight who gave a window start between 11 pm and 1 am, and nearly all run until 8–11 am. That overlap is what stacks the load on one connection. Caveats to say out loud: these are the charging windows drivers reported, not meter logs; A and I gave a second window that is not drawn; E charges at home and gave no time. C also tops up between 3 and 7 pm, which is daylight, so a lithium driver could charge from solar directly. That is an idea to test,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Say: the rent is ₹400 a day and includes charging. Using the drivers' own numbers, electricity is ₹80–100 a day and a battery set of ₹48,000–70,000 replaced every 1.5 to 3 years is ₹46–96 a day. Together that is a third to a half of the rent, and it is the owner's cost. Be clear this is derived from what drivers told us, not from the owners' books. How it was derived: battery per day = replacement cost divided by days between replacements. F: ₹50,000 over 3 years is about ₹46; A and G: ₹48,000 over 2 years is about ₹66; B: ₹70,000 over 2 years is about ₹96. Electricity: B pays ₹80 on top of ₹300 rent, G pays ₹100 on top of ₹300, and H's home meter shows ₹70–80 for 7–8 units. The bar uses midpoints of ₹90 and ₹70, about 40% of the rent; the ranges give 31% to 49%. If asked: we do not know the owner's margin or the garage's own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Say: driver E's pack gives 60 km now against 150 km when the vehicle was bought in 2023, and it charges in 3 hours instead of 12. Every driver described battery health in km per full charge; nobody gave a state-of-health figure. That is why we think battery behaviour matters. The last line is deliberately a hypothesis: charging behaviour may affect ageing, and retired lithium packs may be reusable as garage storage. We have not tested either. Facts behind the right-hand column: E says the vehicle company asks for a replacement every year; A, B and E replace every 2 years; C every 1.5 years; H normally every 1.5 years with a 1-year guarantee; F's last change was 3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here, then 60–90 seconds of live demo. Say: ChargeFlow is software that decides, every 15 minutes, which chargers are switched on so the building stays under its sanctioned load, and switches each charger off when its pack is ready. All numbers on this slide come from our simulator with a 7 kW limit we assumed and generated arrival and departure times; they are not field measurements. Be upfront that plug-in-and-charge also reaches 10 of 10 at 7 kW, but only by running 4 hours 15 minutes over the limit. Then switch to the live app: pick the scenarios, drop the sanctioned load to 6 kW, and show grid only at 5 of 10 against solar and storage at 10 of 10. Solar covers 19% of the night load with 5 kW of panels, so present it as a supplement. Numbers if asked: peak 10.5 kW uncontrolled vs 6.6 kW; 11.7 kWh less grid energy with solar and storage than grid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Say: this is what we do not know yet. The visit did not ask about breaker trips or the sanctioned load, and that is the heart of our claim, so we are treating it as unverified and will ask an owner. The brief itself says one honest sentence beats a confident guess. Be ready to explain the numbers: H reported 7–8 units a day costing ₹70–80 at home, which is about ₹10 a unit; check that against a bill. 10 vehicles at 7–8 units would be 70–80 kWh a night, against about 12 kWh a day from a 3 kW system at roughly 4 kWh per kW, so solar can only be a supplement. The subsidy note in our field report said the government provides a subsidy for e-rickshaws "in the morning to charge"; we could not tell whether that means a time-of-day tariff or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Say: the next step is to measure, not to scale. Smart plugs on one garage for a week would give real kW per charger and real start and stop times; then we replace our assumptions with those numbers and trial the schedule on a few chargers. This is a proposal and depends on an owner agreeing, so say so. Fill in the team line with names and roles before presenting, and finish by thanking the room and offering the live demo again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questions only. Two corrections we owe the simulator: plug-in times should be later (the model's mean arrival is about 21:30, while most drivers say charging starts between 11 pm and midnight), and the simulation window should run to about 11 am, because drivers leave between 8 and 11 am and the current window ends at 09:00. Lead-acid charge time in the model matches what drivers reported. Offer to open the Fleet data tab, where arrival and departure times and starting charge can be edited live, so any figure a judge questions can be changed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1A20"/>
                </a:solidFill>
                <a:latin typeface="Inter Tight" pitchFamily="34" charset="0"/>
                <a:ea typeface="Inter Tight" pitchFamily="34" charset="-122"/>
                <a:cs typeface="Inter Tigh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201"/>
            <a:ext cx="10566400" cy="4063999"/>
          </a:xfrm>
          <a:prstGeom prst="rect">
            <a:avLst/>
          </a:prstGeom>
          <a:noFill/>
          <a:ln/>
        </p:spPr>
        <p:txBody>
          <a:bodyPr wrap="square" lIns="0" tIns="0" rIns="0" bIns="0" rtlCol="0" anchor="t"/>
          <a:lstStyle>
            <a:lvl1pPr algn="l" indent="0" marL="0">
              <a:lnSpc>
                <a:spcPct val="140000"/>
              </a:lnSpc>
              <a:buNone/>
              <a:defRPr lang="en-US" sz="1600" dirty="0">
                <a:solidFill>
                  <a:srgbClr val="171A2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1A20"/>
                </a:solidFill>
                <a:latin typeface="Inter Tight" pitchFamily="34" charset="0"/>
                <a:ea typeface="Inter Tight" pitchFamily="34" charset="-122"/>
                <a:cs typeface="Inter Tigh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201"/>
            <a:ext cx="10566400" cy="4063999"/>
          </a:xfrm>
          <a:prstGeom prst="rect">
            <a:avLst/>
          </a:prstGeom>
          <a:noFill/>
          <a:ln/>
        </p:spPr>
        <p:txBody>
          <a:bodyPr wrap="square" lIns="0" tIns="0" rIns="0" bIns="0" rtlCol="0" anchor="t"/>
          <a:lstStyle>
            <a:lvl1pPr algn="l" indent="0" marL="0">
              <a:lnSpc>
                <a:spcPct val="140000"/>
              </a:lnSpc>
              <a:buNone/>
              <a:defRPr lang="en-US" sz="1600" dirty="0">
                <a:solidFill>
                  <a:srgbClr val="171A2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0"/>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457D6"/>
          </a:solidFill>
          <a:ln/>
        </p:spPr>
      </p:sp>
      <p:sp>
        <p:nvSpPr>
          <p:cNvPr id="3" name="Text 1"/>
          <p:cNvSpPr/>
          <p:nvPr/>
        </p:nvSpPr>
        <p:spPr>
          <a:xfrm>
            <a:off x="812800" y="8128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50" kern="0" dirty="0">
                <a:solidFill>
                  <a:srgbClr val="F4F2EC"/>
                </a:solidFill>
                <a:latin typeface="Inter Tight" pitchFamily="34" charset="0"/>
                <a:ea typeface="Inter Tight" pitchFamily="34" charset="-122"/>
                <a:cs typeface="Inter Tight" pitchFamily="34" charset="-120"/>
              </a:rPr>
              <a:t>Charge</a:t>
            </a:r>
            <a:r>
              <a:rPr lang="en-US" sz="2000" b="1" spc="-50" kern="0" dirty="0">
                <a:solidFill>
                  <a:srgbClr val="8FAAF2"/>
                </a:solidFill>
                <a:latin typeface="Inter Tight" pitchFamily="34" charset="0"/>
                <a:ea typeface="Inter Tight" pitchFamily="34" charset="-122"/>
                <a:cs typeface="Inter Tight" pitchFamily="34" charset="-120"/>
              </a:rPr>
              <a:t>Flow</a:t>
            </a:r>
            <a:endParaRPr lang="en-US" sz="2000" dirty="0"/>
          </a:p>
        </p:txBody>
      </p:sp>
      <p:sp>
        <p:nvSpPr>
          <p:cNvPr id="4" name="Text 2"/>
          <p:cNvSpPr/>
          <p:nvPr/>
        </p:nvSpPr>
        <p:spPr>
          <a:xfrm>
            <a:off x="812800" y="171307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FAAF2"/>
                </a:solidFill>
                <a:latin typeface="IBM Plex Mono" pitchFamily="49" charset="0"/>
                <a:ea typeface="IBM Plex Mono" pitchFamily="49" charset="-122"/>
                <a:cs typeface="IBM Plex Mono" pitchFamily="49" charset="-120"/>
              </a:rPr>
              <a:t>FIELD FINDINGS · SHIFT HACKATHON · IIT (BHU) VARANASI</a:t>
            </a:r>
            <a:endParaRPr lang="en-US" sz="1200" dirty="0"/>
          </a:p>
        </p:txBody>
      </p:sp>
      <p:sp>
        <p:nvSpPr>
          <p:cNvPr id="5" name="Text 3"/>
          <p:cNvSpPr/>
          <p:nvPr>
            <p:ph type="title"/>
          </p:nvPr>
        </p:nvSpPr>
        <p:spPr>
          <a:xfrm>
            <a:off x="812800" y="2180431"/>
            <a:ext cx="10883392" cy="2512377"/>
          </a:xfrm>
          <a:prstGeom prst="rect">
            <a:avLst/>
          </a:prstGeom>
          <a:noFill/>
          <a:ln/>
        </p:spPr>
        <p:txBody>
          <a:bodyPr wrap="square" lIns="0" tIns="0" rIns="0" bIns="0" rtlCol="0" anchor="t">
            <a:normAutofit/>
          </a:bodyPr>
          <a:lstStyle/>
          <a:p>
            <a:pPr algn="l" indent="0" marL="0">
              <a:lnSpc>
                <a:spcPts val="6528"/>
              </a:lnSpc>
              <a:buNone/>
            </a:pPr>
            <a:r>
              <a:rPr lang="en-US" sz="6400" b="1" i="0" spc="-150" kern="0" dirty="0">
                <a:solidFill>
                  <a:srgbClr val="F4F2EC"/>
                </a:solidFill>
                <a:latin typeface="Inter Tight" pitchFamily="34" charset="0"/>
                <a:ea typeface="Inter Tight" pitchFamily="34" charset="-122"/>
                <a:cs typeface="Inter Tight" pitchFamily="34" charset="-120"/>
              </a:rPr>
              <a:t>Smart overnight</a:t>
            </a:r>
            <a:endParaRPr lang="en-US" sz="6400" dirty="0"/>
          </a:p>
          <a:p>
            <a:pPr algn="l" indent="0" marL="0">
              <a:lnSpc>
                <a:spcPts val="6528"/>
              </a:lnSpc>
              <a:buNone/>
            </a:pPr>
            <a:r>
              <a:rPr lang="en-US" sz="6400" b="1" i="0" spc="-150" kern="0" dirty="0">
                <a:solidFill>
                  <a:srgbClr val="F4F2EC"/>
                </a:solidFill>
                <a:latin typeface="Inter Tight" pitchFamily="34" charset="0"/>
                <a:ea typeface="Inter Tight" pitchFamily="34" charset="-122"/>
                <a:cs typeface="Inter Tight" pitchFamily="34" charset="-120"/>
              </a:rPr>
              <a:t>charging for</a:t>
            </a:r>
            <a:endParaRPr lang="en-US" sz="6400" dirty="0"/>
          </a:p>
          <a:p>
            <a:pPr algn="l" indent="0" marL="0">
              <a:lnSpc>
                <a:spcPts val="6528"/>
              </a:lnSpc>
              <a:buNone/>
            </a:pPr>
            <a:r>
              <a:rPr lang="en-US" sz="6400" b="1" i="0" spc="-150" kern="0" dirty="0">
                <a:solidFill>
                  <a:srgbClr val="F4F2EC"/>
                </a:solidFill>
                <a:latin typeface="Inter Tight" pitchFamily="34" charset="0"/>
                <a:ea typeface="Inter Tight" pitchFamily="34" charset="-122"/>
                <a:cs typeface="Inter Tight" pitchFamily="34" charset="-120"/>
              </a:rPr>
              <a:t>e-rickshaw garages</a:t>
            </a:r>
            <a:endParaRPr lang="en-US" sz="6400" dirty="0"/>
          </a:p>
        </p:txBody>
      </p:sp>
      <p:sp>
        <p:nvSpPr>
          <p:cNvPr id="6" name="Text 4"/>
          <p:cNvSpPr/>
          <p:nvPr/>
        </p:nvSpPr>
        <p:spPr>
          <a:xfrm>
            <a:off x="812800" y="4921409"/>
            <a:ext cx="981075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4C7CE"/>
                </a:solidFill>
                <a:latin typeface="Inter" pitchFamily="34" charset="0"/>
                <a:ea typeface="Inter" pitchFamily="34" charset="-122"/>
                <a:cs typeface="Inter" pitchFamily="34" charset="-120"/>
              </a:rPr>
              <a:t>What nine drivers in Varanasi told us, and what we built from it.</a:t>
            </a:r>
            <a:endParaRPr lang="en-US" sz="2000" dirty="0"/>
          </a:p>
        </p:txBody>
      </p:sp>
      <p:sp>
        <p:nvSpPr>
          <p:cNvPr id="7" name="Text 5"/>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C7CE"/>
                </a:solidFill>
                <a:latin typeface="Inter" pitchFamily="34" charset="0"/>
                <a:ea typeface="Inter" pitchFamily="34" charset="-122"/>
                <a:cs typeface="Inter" pitchFamily="34" charset="-120"/>
              </a:rPr>
              <a:t>[Team name] · [Member 1] · [Member 2] · [Member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THE PROBLEM</a:t>
            </a:r>
            <a:endParaRPr lang="en-US" sz="1200" dirty="0"/>
          </a:p>
        </p:txBody>
      </p:sp>
      <p:sp>
        <p:nvSpPr>
          <p:cNvPr id="3" name="Text 1"/>
          <p:cNvSpPr/>
          <p:nvPr>
            <p:ph type="title"/>
          </p:nvPr>
        </p:nvSpPr>
        <p:spPr>
          <a:xfrm>
            <a:off x="812800" y="12801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Owners rent out e-rickshaws and pay for charging</a:t>
            </a:r>
            <a:endParaRPr lang="en-US" sz="3200" dirty="0"/>
          </a:p>
        </p:txBody>
      </p:sp>
      <p:sp>
        <p:nvSpPr>
          <p:cNvPr id="4" name="Text 2"/>
          <p:cNvSpPr/>
          <p:nvPr/>
        </p:nvSpPr>
        <p:spPr>
          <a:xfrm>
            <a:off x="812800" y="1981200"/>
            <a:ext cx="4055110" cy="8382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2457D6"/>
                </a:solidFill>
                <a:latin typeface="Inter Tight" pitchFamily="34" charset="0"/>
                <a:ea typeface="Inter Tight" pitchFamily="34" charset="-122"/>
                <a:cs typeface="Inter Tight" pitchFamily="34" charset="-120"/>
              </a:rPr>
              <a:t>7 of 9</a:t>
            </a:r>
            <a:endParaRPr lang="en-US" sz="6400" dirty="0"/>
          </a:p>
        </p:txBody>
      </p:sp>
      <p:sp>
        <p:nvSpPr>
          <p:cNvPr id="5" name="Text 3"/>
          <p:cNvSpPr/>
          <p:nvPr/>
        </p:nvSpPr>
        <p:spPr>
          <a:xfrm>
            <a:off x="812800" y="2895600"/>
            <a:ext cx="405511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Inter" pitchFamily="34" charset="0"/>
                <a:ea typeface="Inter" pitchFamily="34" charset="-122"/>
                <a:cs typeface="Inter" pitchFamily="34" charset="-120"/>
              </a:rPr>
              <a:t>drivers we met rent their e-rickshaw by the day (A, B, C, D, F, G and I). E and H own theirs.</a:t>
            </a:r>
            <a:endParaRPr lang="en-US" sz="1400" dirty="0"/>
          </a:p>
        </p:txBody>
      </p:sp>
      <p:sp>
        <p:nvSpPr>
          <p:cNvPr id="6" name="Shape 4"/>
          <p:cNvSpPr/>
          <p:nvPr/>
        </p:nvSpPr>
        <p:spPr>
          <a:xfrm>
            <a:off x="5362575" y="1984375"/>
            <a:ext cx="6013450" cy="1263650"/>
          </a:xfrm>
          <a:prstGeom prst="roundRect">
            <a:avLst>
              <a:gd name="adj" fmla="val 3769"/>
            </a:avLst>
          </a:prstGeom>
          <a:solidFill>
            <a:srgbClr val="FFFFFF"/>
          </a:solidFill>
          <a:ln w="6350">
            <a:solidFill>
              <a:srgbClr val="D6D2C7"/>
            </a:solidFill>
            <a:prstDash val="solid"/>
          </a:ln>
        </p:spPr>
      </p:sp>
      <p:sp>
        <p:nvSpPr>
          <p:cNvPr id="7" name="Text 5"/>
          <p:cNvSpPr/>
          <p:nvPr/>
        </p:nvSpPr>
        <p:spPr>
          <a:xfrm>
            <a:off x="5567680" y="2189480"/>
            <a:ext cx="57713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1A20"/>
                </a:solidFill>
                <a:latin typeface="Inter Tight" pitchFamily="34" charset="0"/>
                <a:ea typeface="Inter Tight" pitchFamily="34" charset="-122"/>
                <a:cs typeface="Inter Tight" pitchFamily="34" charset="-120"/>
              </a:rPr>
              <a:t>₹380–400 a day</a:t>
            </a:r>
            <a:endParaRPr lang="en-US" sz="2000" dirty="0"/>
          </a:p>
        </p:txBody>
      </p:sp>
      <p:sp>
        <p:nvSpPr>
          <p:cNvPr id="8" name="Text 6"/>
          <p:cNvSpPr/>
          <p:nvPr/>
        </p:nvSpPr>
        <p:spPr>
          <a:xfrm>
            <a:off x="5567680" y="2545080"/>
            <a:ext cx="57713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Inter" pitchFamily="34" charset="0"/>
                <a:ea typeface="Inter" pitchFamily="34" charset="-122"/>
                <a:cs typeface="Inter" pitchFamily="34" charset="-120"/>
              </a:rPr>
              <a:t>Typical rent, with charging included. The owner supplies the electricity.</a:t>
            </a:r>
            <a:endParaRPr lang="en-US" sz="1400" dirty="0"/>
          </a:p>
        </p:txBody>
      </p:sp>
      <p:sp>
        <p:nvSpPr>
          <p:cNvPr id="9" name="Shape 7"/>
          <p:cNvSpPr/>
          <p:nvPr/>
        </p:nvSpPr>
        <p:spPr>
          <a:xfrm>
            <a:off x="5362575" y="3406775"/>
            <a:ext cx="6013450" cy="1263650"/>
          </a:xfrm>
          <a:prstGeom prst="roundRect">
            <a:avLst>
              <a:gd name="adj" fmla="val 3769"/>
            </a:avLst>
          </a:prstGeom>
          <a:solidFill>
            <a:srgbClr val="FFFFFF"/>
          </a:solidFill>
          <a:ln w="6350">
            <a:solidFill>
              <a:srgbClr val="D6D2C7"/>
            </a:solidFill>
            <a:prstDash val="solid"/>
          </a:ln>
        </p:spPr>
      </p:sp>
      <p:sp>
        <p:nvSpPr>
          <p:cNvPr id="10" name="Text 8"/>
          <p:cNvSpPr/>
          <p:nvPr/>
        </p:nvSpPr>
        <p:spPr>
          <a:xfrm>
            <a:off x="5567680" y="3611880"/>
            <a:ext cx="57713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1A20"/>
                </a:solidFill>
                <a:latin typeface="Inter Tight" pitchFamily="34" charset="0"/>
                <a:ea typeface="Inter Tight" pitchFamily="34" charset="-122"/>
                <a:cs typeface="Inter Tight" pitchFamily="34" charset="-120"/>
              </a:rPr>
              <a:t>About 10 vehicles per garage</a:t>
            </a:r>
            <a:endParaRPr lang="en-US" sz="2000" dirty="0"/>
          </a:p>
        </p:txBody>
      </p:sp>
      <p:sp>
        <p:nvSpPr>
          <p:cNvPr id="11" name="Text 9"/>
          <p:cNvSpPr/>
          <p:nvPr/>
        </p:nvSpPr>
        <p:spPr>
          <a:xfrm>
            <a:off x="5567680" y="3967480"/>
            <a:ext cx="57713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Inter" pitchFamily="34" charset="0"/>
                <a:ea typeface="Inter" pitchFamily="34" charset="-122"/>
                <a:cs typeface="Inter" pitchFamily="34" charset="-120"/>
              </a:rPr>
              <a:t>They charge together in a small garage that doubles as quarters. Many such garages exist across Varanasi.</a:t>
            </a:r>
            <a:endParaRPr lang="en-US" sz="1400" dirty="0"/>
          </a:p>
        </p:txBody>
      </p:sp>
      <p:sp>
        <p:nvSpPr>
          <p:cNvPr id="12" name="Shape 10"/>
          <p:cNvSpPr/>
          <p:nvPr/>
        </p:nvSpPr>
        <p:spPr>
          <a:xfrm>
            <a:off x="831850" y="4927600"/>
            <a:ext cx="0" cy="299720"/>
          </a:xfrm>
          <a:prstGeom prst="line">
            <a:avLst/>
          </a:prstGeom>
          <a:noFill/>
          <a:ln w="38100">
            <a:solidFill>
              <a:srgbClr val="2457D6"/>
            </a:solidFill>
            <a:prstDash val="solid"/>
          </a:ln>
        </p:spPr>
      </p:sp>
      <p:sp>
        <p:nvSpPr>
          <p:cNvPr id="13" name="Text 11"/>
          <p:cNvSpPr/>
          <p:nvPr/>
        </p:nvSpPr>
        <p:spPr>
          <a:xfrm>
            <a:off x="1026160" y="4953000"/>
            <a:ext cx="1066363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1A20"/>
                </a:solidFill>
                <a:latin typeface="Inter" pitchFamily="34" charset="0"/>
                <a:ea typeface="Inter" pitchFamily="34" charset="-122"/>
                <a:cs typeface="Inter" pitchFamily="34" charset="-120"/>
              </a:rPr>
              <a:t>Our customer is the garage owner, who carries the electricity bill and, as F told us, the battery replacement.</a:t>
            </a:r>
            <a:endParaRPr lang="en-US" sz="1400" dirty="0"/>
          </a:p>
        </p:txBody>
      </p:sp>
      <p:sp>
        <p:nvSpPr>
          <p:cNvPr id="14" name="Text 12"/>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15" name="Text 13"/>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THE EVIDENCE</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We spoke to nine drivers in Varanasi, A to 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3302000"/>
        </p:xfrm>
        <a:graphic>
          <a:graphicData uri="http://schemas.openxmlformats.org/drawingml/2006/table">
            <a:tbl>
              <a:tblPr/>
              <a:tblGrid>
                <a:gridCol w="1055624"/>
                <a:gridCol w="1477874"/>
                <a:gridCol w="2111248"/>
                <a:gridCol w="1688998"/>
                <a:gridCol w="1688998"/>
                <a:gridCol w="2533498"/>
              </a:tblGrid>
              <a:tr h="330200">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Driver</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Vehicle</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Battery</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Full charge</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Range</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Charging window</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A</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90 km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8 pm–10 am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B</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Lithium (LFP)</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3–4 h</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12 am–11 am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C</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Lithium†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3.5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12 am–10 am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8 h</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12 am–10 am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Own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3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60 km*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At home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F</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Lithium (LFP)</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5–6 h</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12 am–11 am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G</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8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120 km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11 pm–8 am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H</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Own</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 h</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11 pm–10 am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I</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Rented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Lithium (LFP)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5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100 km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10 pm–10 am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5394961"/>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 E's pack now gives 60 km (150 km when new) and charges in 3 h (12 h when new). † C reported 8 dry cells (LFP); chemistry to confirm. Figures are as the drivers told us.</a:t>
            </a:r>
            <a:endParaRPr lang="en-US" sz="1200" dirty="0"/>
          </a:p>
        </p:txBody>
      </p:sp>
      <p:sp>
        <p:nvSpPr>
          <p:cNvPr id="6" name="Text 3"/>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7" name="Text 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FINDING 1</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Six of eight drivers start charging between 11 pm and 1 am</a:t>
            </a:r>
            <a:endParaRPr lang="en-US" sz="3200" dirty="0"/>
          </a:p>
        </p:txBody>
      </p:sp>
      <p:sp>
        <p:nvSpPr>
          <p:cNvPr id="4" name="Text 2"/>
          <p:cNvSpPr/>
          <p:nvPr/>
        </p:nvSpPr>
        <p:spPr>
          <a:xfrm>
            <a:off x="812800" y="1879600"/>
            <a:ext cx="812800" cy="24177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5F646C"/>
                </a:solidFill>
                <a:latin typeface="Inter" pitchFamily="34" charset="0"/>
                <a:ea typeface="Inter" pitchFamily="34" charset="-122"/>
                <a:cs typeface="Inter" pitchFamily="34" charset="-120"/>
              </a:rPr>
              <a:t>6 pm</a:t>
            </a:r>
            <a:endParaRPr lang="en-US" sz="1200" dirty="0"/>
          </a:p>
        </p:txBody>
      </p:sp>
      <p:sp>
        <p:nvSpPr>
          <p:cNvPr id="5" name="Text 3"/>
          <p:cNvSpPr/>
          <p:nvPr/>
        </p:nvSpPr>
        <p:spPr>
          <a:xfrm>
            <a:off x="2616200" y="1879600"/>
            <a:ext cx="812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5F646C"/>
                </a:solidFill>
                <a:latin typeface="Inter" pitchFamily="34" charset="0"/>
                <a:ea typeface="Inter" pitchFamily="34" charset="-122"/>
                <a:cs typeface="Inter" pitchFamily="34" charset="-120"/>
              </a:rPr>
              <a:t>12 am</a:t>
            </a:r>
            <a:endParaRPr lang="en-US" sz="1200" dirty="0"/>
          </a:p>
        </p:txBody>
      </p:sp>
      <p:sp>
        <p:nvSpPr>
          <p:cNvPr id="6" name="Text 4"/>
          <p:cNvSpPr/>
          <p:nvPr/>
        </p:nvSpPr>
        <p:spPr>
          <a:xfrm>
            <a:off x="4826000" y="1879600"/>
            <a:ext cx="812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5F646C"/>
                </a:solidFill>
                <a:latin typeface="Inter" pitchFamily="34" charset="0"/>
                <a:ea typeface="Inter" pitchFamily="34" charset="-122"/>
                <a:cs typeface="Inter" pitchFamily="34" charset="-120"/>
              </a:rPr>
              <a:t>6 am</a:t>
            </a:r>
            <a:endParaRPr lang="en-US" sz="1200" dirty="0"/>
          </a:p>
        </p:txBody>
      </p:sp>
      <p:sp>
        <p:nvSpPr>
          <p:cNvPr id="7" name="Text 5"/>
          <p:cNvSpPr/>
          <p:nvPr/>
        </p:nvSpPr>
        <p:spPr>
          <a:xfrm>
            <a:off x="7035800" y="1879600"/>
            <a:ext cx="812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5F646C"/>
                </a:solidFill>
                <a:latin typeface="Inter" pitchFamily="34" charset="0"/>
                <a:ea typeface="Inter" pitchFamily="34" charset="-122"/>
                <a:cs typeface="Inter" pitchFamily="34" charset="-120"/>
              </a:rPr>
              <a:t>12 pm</a:t>
            </a:r>
            <a:endParaRPr lang="en-US" sz="1200" dirty="0"/>
          </a:p>
        </p:txBody>
      </p:sp>
      <p:sp>
        <p:nvSpPr>
          <p:cNvPr id="8" name="Text 6"/>
          <p:cNvSpPr/>
          <p:nvPr/>
        </p:nvSpPr>
        <p:spPr>
          <a:xfrm>
            <a:off x="9245600" y="1879600"/>
            <a:ext cx="812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5F646C"/>
                </a:solidFill>
                <a:latin typeface="Inter" pitchFamily="34" charset="0"/>
                <a:ea typeface="Inter" pitchFamily="34" charset="-122"/>
                <a:cs typeface="Inter" pitchFamily="34" charset="-120"/>
              </a:rPr>
              <a:t>6 pm</a:t>
            </a:r>
            <a:endParaRPr lang="en-US" sz="1200" dirty="0"/>
          </a:p>
        </p:txBody>
      </p:sp>
      <p:sp>
        <p:nvSpPr>
          <p:cNvPr id="9" name="Text 7"/>
          <p:cNvSpPr/>
          <p:nvPr/>
        </p:nvSpPr>
        <p:spPr>
          <a:xfrm>
            <a:off x="812800" y="20955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A</a:t>
            </a:r>
            <a:endParaRPr lang="en-US" sz="1400" dirty="0"/>
          </a:p>
        </p:txBody>
      </p:sp>
      <p:sp>
        <p:nvSpPr>
          <p:cNvPr id="10" name="Text 8"/>
          <p:cNvSpPr/>
          <p:nvPr/>
        </p:nvSpPr>
        <p:spPr>
          <a:xfrm>
            <a:off x="812800" y="23622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B</a:t>
            </a:r>
            <a:endParaRPr lang="en-US" sz="1400" dirty="0"/>
          </a:p>
        </p:txBody>
      </p:sp>
      <p:sp>
        <p:nvSpPr>
          <p:cNvPr id="11" name="Text 9"/>
          <p:cNvSpPr/>
          <p:nvPr/>
        </p:nvSpPr>
        <p:spPr>
          <a:xfrm>
            <a:off x="812800" y="26289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C</a:t>
            </a:r>
            <a:endParaRPr lang="en-US" sz="1400" dirty="0"/>
          </a:p>
        </p:txBody>
      </p:sp>
      <p:sp>
        <p:nvSpPr>
          <p:cNvPr id="12" name="Text 10"/>
          <p:cNvSpPr/>
          <p:nvPr/>
        </p:nvSpPr>
        <p:spPr>
          <a:xfrm>
            <a:off x="812800" y="28956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D</a:t>
            </a:r>
            <a:endParaRPr lang="en-US" sz="1400" dirty="0"/>
          </a:p>
        </p:txBody>
      </p:sp>
      <p:sp>
        <p:nvSpPr>
          <p:cNvPr id="13" name="Text 11"/>
          <p:cNvSpPr/>
          <p:nvPr/>
        </p:nvSpPr>
        <p:spPr>
          <a:xfrm>
            <a:off x="812800" y="31623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E</a:t>
            </a:r>
            <a:endParaRPr lang="en-US" sz="1400" dirty="0"/>
          </a:p>
        </p:txBody>
      </p:sp>
      <p:sp>
        <p:nvSpPr>
          <p:cNvPr id="14" name="Text 12"/>
          <p:cNvSpPr/>
          <p:nvPr/>
        </p:nvSpPr>
        <p:spPr>
          <a:xfrm>
            <a:off x="812800" y="34290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F</a:t>
            </a:r>
            <a:endParaRPr lang="en-US" sz="1400" dirty="0"/>
          </a:p>
        </p:txBody>
      </p:sp>
      <p:sp>
        <p:nvSpPr>
          <p:cNvPr id="15" name="Text 13"/>
          <p:cNvSpPr/>
          <p:nvPr/>
        </p:nvSpPr>
        <p:spPr>
          <a:xfrm>
            <a:off x="812800" y="36957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G</a:t>
            </a:r>
            <a:endParaRPr lang="en-US" sz="1400" dirty="0"/>
          </a:p>
        </p:txBody>
      </p:sp>
      <p:sp>
        <p:nvSpPr>
          <p:cNvPr id="16" name="Text 14"/>
          <p:cNvSpPr/>
          <p:nvPr/>
        </p:nvSpPr>
        <p:spPr>
          <a:xfrm>
            <a:off x="812800" y="39624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H</a:t>
            </a:r>
            <a:endParaRPr lang="en-US" sz="1400" dirty="0"/>
          </a:p>
        </p:txBody>
      </p:sp>
      <p:sp>
        <p:nvSpPr>
          <p:cNvPr id="17" name="Text 15"/>
          <p:cNvSpPr/>
          <p:nvPr/>
        </p:nvSpPr>
        <p:spPr>
          <a:xfrm>
            <a:off x="812800" y="4229100"/>
            <a:ext cx="88900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71A20"/>
                </a:solidFill>
                <a:latin typeface="Inter" pitchFamily="34" charset="0"/>
                <a:ea typeface="Inter" pitchFamily="34" charset="-122"/>
                <a:cs typeface="Inter" pitchFamily="34" charset="-120"/>
              </a:rPr>
              <a:t>I</a:t>
            </a:r>
            <a:endParaRPr lang="en-US" sz="1400" dirty="0"/>
          </a:p>
        </p:txBody>
      </p:sp>
      <p:sp>
        <p:nvSpPr>
          <p:cNvPr id="18" name="Shape 16"/>
          <p:cNvSpPr/>
          <p:nvPr/>
        </p:nvSpPr>
        <p:spPr>
          <a:xfrm>
            <a:off x="3644900" y="2095500"/>
            <a:ext cx="736600" cy="2400300"/>
          </a:xfrm>
          <a:prstGeom prst="rect">
            <a:avLst/>
          </a:prstGeom>
          <a:solidFill>
            <a:srgbClr val="DCE4F7"/>
          </a:solidFill>
          <a:ln/>
        </p:spPr>
      </p:sp>
      <p:sp>
        <p:nvSpPr>
          <p:cNvPr id="19" name="Shape 17"/>
          <p:cNvSpPr/>
          <p:nvPr/>
        </p:nvSpPr>
        <p:spPr>
          <a:xfrm>
            <a:off x="1803400" y="2095500"/>
            <a:ext cx="6350" cy="2400300"/>
          </a:xfrm>
          <a:prstGeom prst="rect">
            <a:avLst/>
          </a:prstGeom>
          <a:solidFill>
            <a:srgbClr val="D6D2C7"/>
          </a:solidFill>
          <a:ln/>
        </p:spPr>
      </p:sp>
      <p:sp>
        <p:nvSpPr>
          <p:cNvPr id="20" name="Shape 18"/>
          <p:cNvSpPr/>
          <p:nvPr/>
        </p:nvSpPr>
        <p:spPr>
          <a:xfrm>
            <a:off x="4013200" y="2095500"/>
            <a:ext cx="6350" cy="2400300"/>
          </a:xfrm>
          <a:prstGeom prst="rect">
            <a:avLst/>
          </a:prstGeom>
          <a:solidFill>
            <a:srgbClr val="D6D2C7"/>
          </a:solidFill>
          <a:ln/>
        </p:spPr>
      </p:sp>
      <p:sp>
        <p:nvSpPr>
          <p:cNvPr id="21" name="Shape 19"/>
          <p:cNvSpPr/>
          <p:nvPr/>
        </p:nvSpPr>
        <p:spPr>
          <a:xfrm>
            <a:off x="6223000" y="2095500"/>
            <a:ext cx="6350" cy="2400300"/>
          </a:xfrm>
          <a:prstGeom prst="rect">
            <a:avLst/>
          </a:prstGeom>
          <a:solidFill>
            <a:srgbClr val="D6D2C7"/>
          </a:solidFill>
          <a:ln/>
        </p:spPr>
      </p:sp>
      <p:sp>
        <p:nvSpPr>
          <p:cNvPr id="22" name="Shape 20"/>
          <p:cNvSpPr/>
          <p:nvPr/>
        </p:nvSpPr>
        <p:spPr>
          <a:xfrm>
            <a:off x="8432800" y="2095500"/>
            <a:ext cx="6350" cy="2400300"/>
          </a:xfrm>
          <a:prstGeom prst="rect">
            <a:avLst/>
          </a:prstGeom>
          <a:solidFill>
            <a:srgbClr val="D6D2C7"/>
          </a:solidFill>
          <a:ln/>
        </p:spPr>
      </p:sp>
      <p:sp>
        <p:nvSpPr>
          <p:cNvPr id="23" name="Shape 21"/>
          <p:cNvSpPr/>
          <p:nvPr/>
        </p:nvSpPr>
        <p:spPr>
          <a:xfrm>
            <a:off x="10642600" y="2095500"/>
            <a:ext cx="6350" cy="2400300"/>
          </a:xfrm>
          <a:prstGeom prst="rect">
            <a:avLst/>
          </a:prstGeom>
          <a:solidFill>
            <a:srgbClr val="D6D2C7"/>
          </a:solidFill>
          <a:ln/>
        </p:spPr>
      </p:sp>
      <p:sp>
        <p:nvSpPr>
          <p:cNvPr id="24" name="Shape 22"/>
          <p:cNvSpPr/>
          <p:nvPr/>
        </p:nvSpPr>
        <p:spPr>
          <a:xfrm>
            <a:off x="2540000" y="2146300"/>
            <a:ext cx="5156200" cy="165100"/>
          </a:xfrm>
          <a:prstGeom prst="roundRect">
            <a:avLst>
              <a:gd name="adj" fmla="val 15385"/>
            </a:avLst>
          </a:prstGeom>
          <a:solidFill>
            <a:srgbClr val="2457D6"/>
          </a:solidFill>
          <a:ln/>
        </p:spPr>
      </p:sp>
      <p:sp>
        <p:nvSpPr>
          <p:cNvPr id="25" name="Shape 23"/>
          <p:cNvSpPr/>
          <p:nvPr/>
        </p:nvSpPr>
        <p:spPr>
          <a:xfrm>
            <a:off x="4013200" y="2413000"/>
            <a:ext cx="4051300" cy="165100"/>
          </a:xfrm>
          <a:prstGeom prst="roundRect">
            <a:avLst>
              <a:gd name="adj" fmla="val 15385"/>
            </a:avLst>
          </a:prstGeom>
          <a:solidFill>
            <a:srgbClr val="2457D6"/>
          </a:solidFill>
          <a:ln/>
        </p:spPr>
      </p:sp>
      <p:sp>
        <p:nvSpPr>
          <p:cNvPr id="26" name="Shape 24"/>
          <p:cNvSpPr/>
          <p:nvPr/>
        </p:nvSpPr>
        <p:spPr>
          <a:xfrm>
            <a:off x="4013200" y="2679700"/>
            <a:ext cx="3683000" cy="165100"/>
          </a:xfrm>
          <a:prstGeom prst="roundRect">
            <a:avLst>
              <a:gd name="adj" fmla="val 15385"/>
            </a:avLst>
          </a:prstGeom>
          <a:solidFill>
            <a:srgbClr val="2457D6"/>
          </a:solidFill>
          <a:ln/>
        </p:spPr>
      </p:sp>
      <p:sp>
        <p:nvSpPr>
          <p:cNvPr id="27" name="Shape 25"/>
          <p:cNvSpPr/>
          <p:nvPr/>
        </p:nvSpPr>
        <p:spPr>
          <a:xfrm>
            <a:off x="9537700" y="2679700"/>
            <a:ext cx="1473200" cy="165100"/>
          </a:xfrm>
          <a:prstGeom prst="roundRect">
            <a:avLst>
              <a:gd name="adj" fmla="val 15385"/>
            </a:avLst>
          </a:prstGeom>
          <a:solidFill>
            <a:srgbClr val="E8B730"/>
          </a:solidFill>
          <a:ln/>
        </p:spPr>
      </p:sp>
      <p:sp>
        <p:nvSpPr>
          <p:cNvPr id="28" name="Shape 26"/>
          <p:cNvSpPr/>
          <p:nvPr/>
        </p:nvSpPr>
        <p:spPr>
          <a:xfrm>
            <a:off x="4013200" y="2946400"/>
            <a:ext cx="3683000" cy="165100"/>
          </a:xfrm>
          <a:prstGeom prst="roundRect">
            <a:avLst>
              <a:gd name="adj" fmla="val 15385"/>
            </a:avLst>
          </a:prstGeom>
          <a:solidFill>
            <a:srgbClr val="2457D6"/>
          </a:solidFill>
          <a:ln/>
        </p:spPr>
      </p:sp>
      <p:sp>
        <p:nvSpPr>
          <p:cNvPr id="29" name="Text 27"/>
          <p:cNvSpPr/>
          <p:nvPr/>
        </p:nvSpPr>
        <p:spPr>
          <a:xfrm>
            <a:off x="1803400" y="3213100"/>
            <a:ext cx="6540500" cy="292100"/>
          </a:xfrm>
          <a:prstGeom prst="rect">
            <a:avLst/>
          </a:prstGeom>
          <a:noFill/>
          <a:ln/>
        </p:spPr>
        <p:txBody>
          <a:bodyPr wrap="square" lIns="0" tIns="0" rIns="0" bIns="0" rtlCol="0" anchor="t">
            <a:normAutofit/>
          </a:bodyPr>
          <a:lstStyle/>
          <a:p>
            <a:pPr algn="l" indent="0" marL="0">
              <a:lnSpc>
                <a:spcPts val="2100"/>
              </a:lnSpc>
              <a:buNone/>
            </a:pPr>
            <a:r>
              <a:rPr lang="en-US" sz="1200" dirty="0">
                <a:solidFill>
                  <a:srgbClr val="5F646C"/>
                </a:solidFill>
                <a:latin typeface="Inter" pitchFamily="34" charset="0"/>
                <a:ea typeface="Inter" pitchFamily="34" charset="-122"/>
                <a:cs typeface="Inter" pitchFamily="34" charset="-120"/>
              </a:rPr>
              <a:t>Charges at home, time not reported</a:t>
            </a:r>
            <a:endParaRPr lang="en-US" sz="1200" dirty="0"/>
          </a:p>
        </p:txBody>
      </p:sp>
      <p:sp>
        <p:nvSpPr>
          <p:cNvPr id="30" name="Shape 28"/>
          <p:cNvSpPr/>
          <p:nvPr/>
        </p:nvSpPr>
        <p:spPr>
          <a:xfrm>
            <a:off x="4013200" y="3479800"/>
            <a:ext cx="4051300" cy="165100"/>
          </a:xfrm>
          <a:prstGeom prst="roundRect">
            <a:avLst>
              <a:gd name="adj" fmla="val 15385"/>
            </a:avLst>
          </a:prstGeom>
          <a:solidFill>
            <a:srgbClr val="2457D6"/>
          </a:solidFill>
          <a:ln/>
        </p:spPr>
      </p:sp>
      <p:sp>
        <p:nvSpPr>
          <p:cNvPr id="31" name="Shape 29"/>
          <p:cNvSpPr/>
          <p:nvPr/>
        </p:nvSpPr>
        <p:spPr>
          <a:xfrm>
            <a:off x="3644900" y="3746500"/>
            <a:ext cx="3314700" cy="165100"/>
          </a:xfrm>
          <a:prstGeom prst="roundRect">
            <a:avLst>
              <a:gd name="adj" fmla="val 15385"/>
            </a:avLst>
          </a:prstGeom>
          <a:solidFill>
            <a:srgbClr val="2457D6"/>
          </a:solidFill>
          <a:ln/>
        </p:spPr>
      </p:sp>
      <p:sp>
        <p:nvSpPr>
          <p:cNvPr id="32" name="Shape 30"/>
          <p:cNvSpPr/>
          <p:nvPr/>
        </p:nvSpPr>
        <p:spPr>
          <a:xfrm>
            <a:off x="3644900" y="4013200"/>
            <a:ext cx="4051300" cy="165100"/>
          </a:xfrm>
          <a:prstGeom prst="roundRect">
            <a:avLst>
              <a:gd name="adj" fmla="val 15385"/>
            </a:avLst>
          </a:prstGeom>
          <a:solidFill>
            <a:srgbClr val="2457D6"/>
          </a:solidFill>
          <a:ln/>
        </p:spPr>
      </p:sp>
      <p:sp>
        <p:nvSpPr>
          <p:cNvPr id="33" name="Shape 31"/>
          <p:cNvSpPr/>
          <p:nvPr/>
        </p:nvSpPr>
        <p:spPr>
          <a:xfrm>
            <a:off x="3276600" y="4279900"/>
            <a:ext cx="4419600" cy="165100"/>
          </a:xfrm>
          <a:prstGeom prst="roundRect">
            <a:avLst>
              <a:gd name="adj" fmla="val 15385"/>
            </a:avLst>
          </a:prstGeom>
          <a:solidFill>
            <a:srgbClr val="2457D6"/>
          </a:solidFill>
          <a:ln/>
        </p:spPr>
      </p:sp>
      <p:sp>
        <p:nvSpPr>
          <p:cNvPr id="34" name="Shape 32"/>
          <p:cNvSpPr/>
          <p:nvPr/>
        </p:nvSpPr>
        <p:spPr>
          <a:xfrm>
            <a:off x="812800" y="4754880"/>
            <a:ext cx="254000" cy="101600"/>
          </a:xfrm>
          <a:prstGeom prst="roundRect">
            <a:avLst>
              <a:gd name="adj" fmla="val 25000"/>
            </a:avLst>
          </a:prstGeom>
          <a:solidFill>
            <a:srgbClr val="2457D6"/>
          </a:solidFill>
          <a:ln/>
        </p:spPr>
      </p:sp>
      <p:sp>
        <p:nvSpPr>
          <p:cNvPr id="35" name="Text 33"/>
          <p:cNvSpPr/>
          <p:nvPr/>
        </p:nvSpPr>
        <p:spPr>
          <a:xfrm>
            <a:off x="1143000" y="4699000"/>
            <a:ext cx="15634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Overnight window</a:t>
            </a:r>
            <a:endParaRPr lang="en-US" sz="1200" dirty="0"/>
          </a:p>
        </p:txBody>
      </p:sp>
      <p:sp>
        <p:nvSpPr>
          <p:cNvPr id="36" name="Shape 34"/>
          <p:cNvSpPr/>
          <p:nvPr/>
        </p:nvSpPr>
        <p:spPr>
          <a:xfrm>
            <a:off x="2706449" y="4754880"/>
            <a:ext cx="254000" cy="101600"/>
          </a:xfrm>
          <a:prstGeom prst="roundRect">
            <a:avLst>
              <a:gd name="adj" fmla="val 25000"/>
            </a:avLst>
          </a:prstGeom>
          <a:solidFill>
            <a:srgbClr val="E8B730"/>
          </a:solidFill>
          <a:ln/>
        </p:spPr>
      </p:sp>
      <p:sp>
        <p:nvSpPr>
          <p:cNvPr id="37" name="Text 35"/>
          <p:cNvSpPr/>
          <p:nvPr/>
        </p:nvSpPr>
        <p:spPr>
          <a:xfrm>
            <a:off x="3036649" y="4699000"/>
            <a:ext cx="19867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Daytime top-up (C only)</a:t>
            </a:r>
            <a:endParaRPr lang="en-US" sz="1200" dirty="0"/>
          </a:p>
        </p:txBody>
      </p:sp>
      <p:sp>
        <p:nvSpPr>
          <p:cNvPr id="38" name="Shape 36"/>
          <p:cNvSpPr/>
          <p:nvPr/>
        </p:nvSpPr>
        <p:spPr>
          <a:xfrm>
            <a:off x="5023406" y="4754880"/>
            <a:ext cx="254000" cy="101600"/>
          </a:xfrm>
          <a:prstGeom prst="roundRect">
            <a:avLst>
              <a:gd name="adj" fmla="val 25000"/>
            </a:avLst>
          </a:prstGeom>
          <a:solidFill>
            <a:srgbClr val="DCE4F7"/>
          </a:solidFill>
          <a:ln/>
        </p:spPr>
      </p:sp>
      <p:sp>
        <p:nvSpPr>
          <p:cNvPr id="39" name="Text 37"/>
          <p:cNvSpPr/>
          <p:nvPr/>
        </p:nvSpPr>
        <p:spPr>
          <a:xfrm>
            <a:off x="5353606" y="4699000"/>
            <a:ext cx="11316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11 pm to 1 am</a:t>
            </a:r>
            <a:endParaRPr lang="en-US" sz="1200" dirty="0"/>
          </a:p>
        </p:txBody>
      </p:sp>
      <p:sp>
        <p:nvSpPr>
          <p:cNvPr id="40" name="Text 38"/>
          <p:cNvSpPr/>
          <p:nvPr/>
        </p:nvSpPr>
        <p:spPr>
          <a:xfrm>
            <a:off x="812800" y="51155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Windows as reported. A and I gave a second window, not drawn.</a:t>
            </a:r>
            <a:endParaRPr lang="en-US" sz="1200" dirty="0"/>
          </a:p>
        </p:txBody>
      </p:sp>
      <p:sp>
        <p:nvSpPr>
          <p:cNvPr id="41" name="Text 39"/>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42" name="Text 40"/>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FINDING 2</a:t>
            </a:r>
            <a:endParaRPr lang="en-US" sz="1200" dirty="0"/>
          </a:p>
        </p:txBody>
      </p:sp>
      <p:sp>
        <p:nvSpPr>
          <p:cNvPr id="3" name="Text 1"/>
          <p:cNvSpPr/>
          <p:nvPr>
            <p:ph type="title"/>
          </p:nvPr>
        </p:nvSpPr>
        <p:spPr>
          <a:xfrm>
            <a:off x="812800" y="12293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A third to a half of the ₹400 rent goes on electricity and battery wear</a:t>
            </a:r>
            <a:endParaRPr lang="en-US" sz="3200" dirty="0"/>
          </a:p>
        </p:txBody>
      </p:sp>
      <p:sp>
        <p:nvSpPr>
          <p:cNvPr id="4" name="Shape 2"/>
          <p:cNvSpPr/>
          <p:nvPr/>
        </p:nvSpPr>
        <p:spPr>
          <a:xfrm>
            <a:off x="812800" y="2326639"/>
            <a:ext cx="2374900" cy="822960"/>
          </a:xfrm>
          <a:custGeom>
            <a:avLst/>
            <a:gdLst/>
            <a:ahLst/>
            <a:cxnLst/>
            <a:rect l="l" t="t" r="r" b="b"/>
            <a:pathLst>
              <a:path w="2374900" h="822960">
                <a:moveTo>
                  <a:pt x="50800" y="0"/>
                </a:moveTo>
                <a:lnTo>
                  <a:pt x="2374900" y="0"/>
                </a:lnTo>
                <a:lnTo>
                  <a:pt x="2374900" y="822960"/>
                </a:lnTo>
                <a:lnTo>
                  <a:pt x="50800" y="822960"/>
                </a:lnTo>
                <a:arcTo hR="50800" wR="50800" stAng="5400000" swAng="5400000"/>
                <a:lnTo>
                  <a:pt x="0" y="50800"/>
                </a:lnTo>
                <a:arcTo hR="50800" wR="50800" stAng="10800000" swAng="5400000"/>
                <a:close/>
              </a:path>
            </a:pathLst>
          </a:custGeom>
          <a:solidFill>
            <a:srgbClr val="2457D6"/>
          </a:solidFill>
          <a:ln/>
        </p:spPr>
      </p:sp>
      <p:sp>
        <p:nvSpPr>
          <p:cNvPr id="5" name="Text 3"/>
          <p:cNvSpPr/>
          <p:nvPr/>
        </p:nvSpPr>
        <p:spPr>
          <a:xfrm>
            <a:off x="990600" y="2479039"/>
            <a:ext cx="207987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4F2EC"/>
                </a:solidFill>
                <a:latin typeface="Inter Tight" pitchFamily="34" charset="0"/>
                <a:ea typeface="Inter Tight" pitchFamily="34" charset="-122"/>
                <a:cs typeface="Inter Tight" pitchFamily="34" charset="-120"/>
              </a:rPr>
              <a:t>₹80–100</a:t>
            </a:r>
            <a:endParaRPr lang="en-US" sz="2000" dirty="0"/>
          </a:p>
        </p:txBody>
      </p:sp>
      <p:sp>
        <p:nvSpPr>
          <p:cNvPr id="6" name="Text 4"/>
          <p:cNvSpPr/>
          <p:nvPr/>
        </p:nvSpPr>
        <p:spPr>
          <a:xfrm>
            <a:off x="990600" y="2783839"/>
            <a:ext cx="20798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nter" pitchFamily="34" charset="0"/>
                <a:ea typeface="Inter" pitchFamily="34" charset="-122"/>
                <a:cs typeface="Inter" pitchFamily="34" charset="-120"/>
              </a:rPr>
              <a:t>electricity</a:t>
            </a:r>
            <a:endParaRPr lang="en-US" sz="1200" dirty="0"/>
          </a:p>
        </p:txBody>
      </p:sp>
      <p:sp>
        <p:nvSpPr>
          <p:cNvPr id="7" name="Shape 5"/>
          <p:cNvSpPr/>
          <p:nvPr/>
        </p:nvSpPr>
        <p:spPr>
          <a:xfrm>
            <a:off x="3213100" y="2326639"/>
            <a:ext cx="1847850" cy="822960"/>
          </a:xfrm>
          <a:prstGeom prst="rect">
            <a:avLst/>
          </a:prstGeom>
          <a:solidFill>
            <a:srgbClr val="171A20"/>
          </a:solidFill>
          <a:ln/>
        </p:spPr>
      </p:sp>
      <p:sp>
        <p:nvSpPr>
          <p:cNvPr id="8" name="Text 6"/>
          <p:cNvSpPr/>
          <p:nvPr/>
        </p:nvSpPr>
        <p:spPr>
          <a:xfrm>
            <a:off x="3390900" y="2479039"/>
            <a:ext cx="15430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F4F2EC"/>
                </a:solidFill>
                <a:latin typeface="Inter Tight" pitchFamily="34" charset="0"/>
                <a:ea typeface="Inter Tight" pitchFamily="34" charset="-122"/>
                <a:cs typeface="Inter Tight" pitchFamily="34" charset="-120"/>
              </a:rPr>
              <a:t>₹46–96</a:t>
            </a:r>
            <a:endParaRPr lang="en-US" sz="2000" dirty="0"/>
          </a:p>
        </p:txBody>
      </p:sp>
      <p:sp>
        <p:nvSpPr>
          <p:cNvPr id="9" name="Text 7"/>
          <p:cNvSpPr/>
          <p:nvPr/>
        </p:nvSpPr>
        <p:spPr>
          <a:xfrm>
            <a:off x="3390900" y="2783839"/>
            <a:ext cx="1543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nter" pitchFamily="34" charset="0"/>
                <a:ea typeface="Inter" pitchFamily="34" charset="-122"/>
                <a:cs typeface="Inter" pitchFamily="34" charset="-120"/>
              </a:rPr>
              <a:t>battery wear</a:t>
            </a:r>
            <a:endParaRPr lang="en-US" sz="1200" dirty="0"/>
          </a:p>
        </p:txBody>
      </p:sp>
      <p:sp>
        <p:nvSpPr>
          <p:cNvPr id="10" name="Shape 8"/>
          <p:cNvSpPr/>
          <p:nvPr/>
        </p:nvSpPr>
        <p:spPr>
          <a:xfrm>
            <a:off x="5086350" y="2326639"/>
            <a:ext cx="6292850" cy="822960"/>
          </a:xfrm>
          <a:custGeom>
            <a:avLst/>
            <a:gdLst/>
            <a:ahLst/>
            <a:cxnLst/>
            <a:rect l="l" t="t" r="r" b="b"/>
            <a:pathLst>
              <a:path w="6292850" h="822960">
                <a:moveTo>
                  <a:pt x="0" y="0"/>
                </a:moveTo>
                <a:lnTo>
                  <a:pt x="6242050" y="0"/>
                </a:lnTo>
                <a:arcTo hR="50800" wR="50800" stAng="16200000" swAng="5400000"/>
                <a:lnTo>
                  <a:pt x="6292850" y="772160"/>
                </a:lnTo>
                <a:arcTo hR="50800" wR="50800" stAng="0" swAng="5400000"/>
                <a:lnTo>
                  <a:pt x="0" y="822960"/>
                </a:lnTo>
                <a:lnTo>
                  <a:pt x="0" y="0"/>
                </a:lnTo>
                <a:close/>
              </a:path>
            </a:pathLst>
          </a:custGeom>
          <a:solidFill>
            <a:srgbClr val="E3DFD6"/>
          </a:solidFill>
          <a:ln/>
        </p:spPr>
      </p:sp>
      <p:sp>
        <p:nvSpPr>
          <p:cNvPr id="11" name="Text 9"/>
          <p:cNvSpPr/>
          <p:nvPr/>
        </p:nvSpPr>
        <p:spPr>
          <a:xfrm>
            <a:off x="5264150" y="2479039"/>
            <a:ext cx="6115367"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4A4F57"/>
                </a:solidFill>
                <a:latin typeface="Inter Tight" pitchFamily="34" charset="0"/>
                <a:ea typeface="Inter Tight" pitchFamily="34" charset="-122"/>
                <a:cs typeface="Inter Tight" pitchFamily="34" charset="-120"/>
              </a:rPr>
              <a:t>The rest</a:t>
            </a:r>
            <a:endParaRPr lang="en-US" sz="2000" dirty="0"/>
          </a:p>
        </p:txBody>
      </p:sp>
      <p:sp>
        <p:nvSpPr>
          <p:cNvPr id="12" name="Text 10"/>
          <p:cNvSpPr/>
          <p:nvPr/>
        </p:nvSpPr>
        <p:spPr>
          <a:xfrm>
            <a:off x="5264150" y="2783839"/>
            <a:ext cx="61153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vehicle, garage, owner's margin (not measured)</a:t>
            </a:r>
            <a:endParaRPr lang="en-US" sz="1200" dirty="0"/>
          </a:p>
        </p:txBody>
      </p:sp>
      <p:sp>
        <p:nvSpPr>
          <p:cNvPr id="13" name="Shape 11"/>
          <p:cNvSpPr/>
          <p:nvPr/>
        </p:nvSpPr>
        <p:spPr>
          <a:xfrm>
            <a:off x="815975" y="3355975"/>
            <a:ext cx="3380264" cy="1289050"/>
          </a:xfrm>
          <a:prstGeom prst="roundRect">
            <a:avLst>
              <a:gd name="adj" fmla="val 3695"/>
            </a:avLst>
          </a:prstGeom>
          <a:solidFill>
            <a:srgbClr val="FFFFFF"/>
          </a:solidFill>
          <a:ln w="6350">
            <a:solidFill>
              <a:srgbClr val="D6D2C7"/>
            </a:solidFill>
            <a:prstDash val="solid"/>
          </a:ln>
        </p:spPr>
      </p:sp>
      <p:sp>
        <p:nvSpPr>
          <p:cNvPr id="14" name="Text 12"/>
          <p:cNvSpPr/>
          <p:nvPr/>
        </p:nvSpPr>
        <p:spPr>
          <a:xfrm>
            <a:off x="995680" y="3535682"/>
            <a:ext cx="31114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Electricity: ₹80–100 a day</a:t>
            </a:r>
            <a:endParaRPr lang="en-US" sz="1400" dirty="0"/>
          </a:p>
        </p:txBody>
      </p:sp>
      <p:sp>
        <p:nvSpPr>
          <p:cNvPr id="15" name="Text 13"/>
          <p:cNvSpPr/>
          <p:nvPr/>
        </p:nvSpPr>
        <p:spPr>
          <a:xfrm>
            <a:off x="995680" y="3825239"/>
            <a:ext cx="311147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B pays ₹80 on top of ₹300 rent and G pays ₹100 on top of ₹300. H's own meter shows ₹70–80 at home.</a:t>
            </a:r>
            <a:endParaRPr lang="en-US" sz="1200" dirty="0"/>
          </a:p>
        </p:txBody>
      </p:sp>
      <p:sp>
        <p:nvSpPr>
          <p:cNvPr id="16" name="Shape 14"/>
          <p:cNvSpPr/>
          <p:nvPr/>
        </p:nvSpPr>
        <p:spPr>
          <a:xfrm>
            <a:off x="4405789" y="3355975"/>
            <a:ext cx="3380343" cy="1289050"/>
          </a:xfrm>
          <a:prstGeom prst="roundRect">
            <a:avLst>
              <a:gd name="adj" fmla="val 3695"/>
            </a:avLst>
          </a:prstGeom>
          <a:solidFill>
            <a:srgbClr val="FFFFFF"/>
          </a:solidFill>
          <a:ln w="6350">
            <a:solidFill>
              <a:srgbClr val="D6D2C7"/>
            </a:solidFill>
            <a:prstDash val="solid"/>
          </a:ln>
        </p:spPr>
      </p:sp>
      <p:sp>
        <p:nvSpPr>
          <p:cNvPr id="17" name="Text 15"/>
          <p:cNvSpPr/>
          <p:nvPr/>
        </p:nvSpPr>
        <p:spPr>
          <a:xfrm>
            <a:off x="4585494" y="3535682"/>
            <a:ext cx="311156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Battery: ₹46–96 a day</a:t>
            </a:r>
            <a:endParaRPr lang="en-US" sz="1400" dirty="0"/>
          </a:p>
        </p:txBody>
      </p:sp>
      <p:sp>
        <p:nvSpPr>
          <p:cNvPr id="18" name="Text 16"/>
          <p:cNvSpPr/>
          <p:nvPr/>
        </p:nvSpPr>
        <p:spPr>
          <a:xfrm>
            <a:off x="4585494" y="3825239"/>
            <a:ext cx="31115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A set costs ₹48,000–70,000 and is replaced every 1.5 to 3 years, which works out to ₹46 to ₹96 a day.</a:t>
            </a:r>
            <a:endParaRPr lang="en-US" sz="1200" dirty="0"/>
          </a:p>
        </p:txBody>
      </p:sp>
      <p:sp>
        <p:nvSpPr>
          <p:cNvPr id="19" name="Shape 17"/>
          <p:cNvSpPr/>
          <p:nvPr/>
        </p:nvSpPr>
        <p:spPr>
          <a:xfrm>
            <a:off x="7995682" y="3355975"/>
            <a:ext cx="3380343" cy="1289050"/>
          </a:xfrm>
          <a:prstGeom prst="roundRect">
            <a:avLst>
              <a:gd name="adj" fmla="val 3695"/>
            </a:avLst>
          </a:prstGeom>
          <a:solidFill>
            <a:srgbClr val="FFFFFF"/>
          </a:solidFill>
          <a:ln w="6350">
            <a:solidFill>
              <a:srgbClr val="D6D2C7"/>
            </a:solidFill>
            <a:prstDash val="solid"/>
          </a:ln>
        </p:spPr>
      </p:sp>
      <p:sp>
        <p:nvSpPr>
          <p:cNvPr id="20" name="Text 18"/>
          <p:cNvSpPr/>
          <p:nvPr/>
        </p:nvSpPr>
        <p:spPr>
          <a:xfrm>
            <a:off x="8175387" y="3535682"/>
            <a:ext cx="311156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The owner bears both</a:t>
            </a:r>
            <a:endParaRPr lang="en-US" sz="1400" dirty="0"/>
          </a:p>
        </p:txBody>
      </p:sp>
      <p:sp>
        <p:nvSpPr>
          <p:cNvPr id="21" name="Text 19"/>
          <p:cNvSpPr/>
          <p:nvPr/>
        </p:nvSpPr>
        <p:spPr>
          <a:xfrm>
            <a:off x="8175387" y="3825239"/>
            <a:ext cx="31115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Rent includes charging, and F says the owner pays for the battery replacement.</a:t>
            </a:r>
            <a:endParaRPr lang="en-US" sz="1200" dirty="0"/>
          </a:p>
        </p:txBody>
      </p:sp>
      <p:sp>
        <p:nvSpPr>
          <p:cNvPr id="22" name="Text 20"/>
          <p:cNvSpPr/>
          <p:nvPr/>
        </p:nvSpPr>
        <p:spPr>
          <a:xfrm>
            <a:off x="812800" y="48514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Bar uses midpoints (₹90 + ₹70 = ₹160, about 40%). Derived from the drivers' figures, not the owners' accounts. Battery per day = replacement cost ÷ days between replacements.</a:t>
            </a:r>
            <a:endParaRPr lang="en-US" sz="1200" dirty="0"/>
          </a:p>
        </p:txBody>
      </p:sp>
      <p:sp>
        <p:nvSpPr>
          <p:cNvPr id="23" name="Text 21"/>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24" name="Text 22"/>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A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FAAF2"/>
                </a:solidFill>
                <a:latin typeface="IBM Plex Mono" pitchFamily="49" charset="0"/>
                <a:ea typeface="IBM Plex Mono" pitchFamily="49" charset="-122"/>
                <a:cs typeface="IBM Plex Mono" pitchFamily="49" charset="-120"/>
              </a:rPr>
              <a:t>FINDING 3</a:t>
            </a:r>
            <a:endParaRPr lang="en-US" sz="1200" dirty="0"/>
          </a:p>
        </p:txBody>
      </p:sp>
      <p:sp>
        <p:nvSpPr>
          <p:cNvPr id="3" name="Text 1"/>
          <p:cNvSpPr/>
          <p:nvPr>
            <p:ph type="title"/>
          </p:nvPr>
        </p:nvSpPr>
        <p:spPr>
          <a:xfrm>
            <a:off x="812800" y="1280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4F2EC"/>
                </a:solidFill>
                <a:latin typeface="Inter Tight" pitchFamily="34" charset="0"/>
                <a:ea typeface="Inter Tight" pitchFamily="34" charset="-122"/>
                <a:cs typeface="Inter Tight" pitchFamily="34" charset="-120"/>
              </a:rPr>
              <a:t>Batteries age fast and no one tracks health</a:t>
            </a:r>
            <a:endParaRPr lang="en-US" sz="3200" dirty="0"/>
          </a:p>
        </p:txBody>
      </p:sp>
      <p:sp>
        <p:nvSpPr>
          <p:cNvPr id="4" name="Text 2"/>
          <p:cNvSpPr/>
          <p:nvPr/>
        </p:nvSpPr>
        <p:spPr>
          <a:xfrm>
            <a:off x="812800" y="1981200"/>
            <a:ext cx="5494020" cy="8382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8FAAF2"/>
                </a:solidFill>
                <a:latin typeface="Inter Tight" pitchFamily="34" charset="0"/>
                <a:ea typeface="Inter Tight" pitchFamily="34" charset="-122"/>
                <a:cs typeface="Inter Tight" pitchFamily="34" charset="-120"/>
              </a:rPr>
              <a:t>150 → 60 km</a:t>
            </a:r>
            <a:endParaRPr lang="en-US" sz="6400" dirty="0"/>
          </a:p>
        </p:txBody>
      </p:sp>
      <p:sp>
        <p:nvSpPr>
          <p:cNvPr id="5" name="Text 3"/>
          <p:cNvSpPr/>
          <p:nvPr/>
        </p:nvSpPr>
        <p:spPr>
          <a:xfrm>
            <a:off x="812800" y="2921000"/>
            <a:ext cx="549402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C7CE"/>
                </a:solidFill>
                <a:latin typeface="Inter" pitchFamily="34" charset="0"/>
                <a:ea typeface="Inter" pitchFamily="34" charset="-122"/>
                <a:cs typeface="Inter" pitchFamily="34" charset="-120"/>
              </a:rPr>
              <a:t>Driver E's lead-acid pack: range on a full charge when bought in 2023, and now. Charge time fell from 12 h to 3 h, which fits a pack with far less capacity left.</a:t>
            </a:r>
            <a:endParaRPr lang="en-US" sz="1400" dirty="0"/>
          </a:p>
        </p:txBody>
      </p:sp>
      <p:sp>
        <p:nvSpPr>
          <p:cNvPr id="6" name="Shape 4"/>
          <p:cNvSpPr/>
          <p:nvPr/>
        </p:nvSpPr>
        <p:spPr>
          <a:xfrm>
            <a:off x="6756400" y="1984375"/>
            <a:ext cx="4622800" cy="0"/>
          </a:xfrm>
          <a:prstGeom prst="line">
            <a:avLst/>
          </a:prstGeom>
          <a:noFill/>
          <a:ln w="6350">
            <a:solidFill>
              <a:srgbClr val="3A3F48"/>
            </a:solidFill>
            <a:prstDash val="solid"/>
          </a:ln>
        </p:spPr>
      </p:sp>
      <p:sp>
        <p:nvSpPr>
          <p:cNvPr id="7" name="Text 5"/>
          <p:cNvSpPr/>
          <p:nvPr/>
        </p:nvSpPr>
        <p:spPr>
          <a:xfrm>
            <a:off x="6756400" y="2113282"/>
            <a:ext cx="47614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2EC"/>
                </a:solidFill>
                <a:latin typeface="Inter Tight" pitchFamily="34" charset="0"/>
                <a:ea typeface="Inter Tight" pitchFamily="34" charset="-122"/>
                <a:cs typeface="Inter Tight" pitchFamily="34" charset="-120"/>
              </a:rPr>
              <a:t>40%</a:t>
            </a:r>
            <a:endParaRPr lang="en-US" sz="2000" dirty="0"/>
          </a:p>
        </p:txBody>
      </p:sp>
      <p:sp>
        <p:nvSpPr>
          <p:cNvPr id="8" name="Text 6"/>
          <p:cNvSpPr/>
          <p:nvPr/>
        </p:nvSpPr>
        <p:spPr>
          <a:xfrm>
            <a:off x="6756400" y="2468882"/>
            <a:ext cx="47614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7CE"/>
                </a:solidFill>
                <a:latin typeface="Inter" pitchFamily="34" charset="0"/>
                <a:ea typeface="Inter" pitchFamily="34" charset="-122"/>
                <a:cs typeface="Inter" pitchFamily="34" charset="-120"/>
              </a:rPr>
              <a:t>of the original range is left after about three years (driver E).</a:t>
            </a:r>
            <a:endParaRPr lang="en-US" sz="1200" dirty="0"/>
          </a:p>
        </p:txBody>
      </p:sp>
      <p:sp>
        <p:nvSpPr>
          <p:cNvPr id="9" name="Shape 7"/>
          <p:cNvSpPr/>
          <p:nvPr/>
        </p:nvSpPr>
        <p:spPr>
          <a:xfrm>
            <a:off x="6756400" y="2837814"/>
            <a:ext cx="4622800" cy="0"/>
          </a:xfrm>
          <a:prstGeom prst="line">
            <a:avLst/>
          </a:prstGeom>
          <a:noFill/>
          <a:ln w="6350">
            <a:solidFill>
              <a:srgbClr val="3A3F48"/>
            </a:solidFill>
            <a:prstDash val="solid"/>
          </a:ln>
        </p:spPr>
      </p:sp>
      <p:sp>
        <p:nvSpPr>
          <p:cNvPr id="10" name="Text 8"/>
          <p:cNvSpPr/>
          <p:nvPr/>
        </p:nvSpPr>
        <p:spPr>
          <a:xfrm>
            <a:off x="6756400" y="2966721"/>
            <a:ext cx="47614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2EC"/>
                </a:solidFill>
                <a:latin typeface="Inter Tight" pitchFamily="34" charset="0"/>
                <a:ea typeface="Inter Tight" pitchFamily="34" charset="-122"/>
                <a:cs typeface="Inter Tight" pitchFamily="34" charset="-120"/>
              </a:rPr>
              <a:t>1.5–3 years</a:t>
            </a:r>
            <a:endParaRPr lang="en-US" sz="2000" dirty="0"/>
          </a:p>
        </p:txBody>
      </p:sp>
      <p:sp>
        <p:nvSpPr>
          <p:cNvPr id="11" name="Text 9"/>
          <p:cNvSpPr/>
          <p:nvPr/>
        </p:nvSpPr>
        <p:spPr>
          <a:xfrm>
            <a:off x="6756400" y="3322321"/>
            <a:ext cx="4761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7CE"/>
                </a:solidFill>
                <a:latin typeface="Inter" pitchFamily="34" charset="0"/>
                <a:ea typeface="Inter" pitchFamily="34" charset="-122"/>
                <a:cs typeface="Inter" pitchFamily="34" charset="-120"/>
              </a:rPr>
              <a:t>between battery replacements (A, B, C, E, F, H). E's vehicle company asks for a yearly swap.</a:t>
            </a:r>
            <a:endParaRPr lang="en-US" sz="1200" dirty="0"/>
          </a:p>
        </p:txBody>
      </p:sp>
      <p:sp>
        <p:nvSpPr>
          <p:cNvPr id="12" name="Shape 10"/>
          <p:cNvSpPr/>
          <p:nvPr/>
        </p:nvSpPr>
        <p:spPr>
          <a:xfrm>
            <a:off x="6756400" y="3904614"/>
            <a:ext cx="4622800" cy="0"/>
          </a:xfrm>
          <a:prstGeom prst="line">
            <a:avLst/>
          </a:prstGeom>
          <a:noFill/>
          <a:ln w="6350">
            <a:solidFill>
              <a:srgbClr val="3A3F48"/>
            </a:solidFill>
            <a:prstDash val="solid"/>
          </a:ln>
        </p:spPr>
      </p:sp>
      <p:sp>
        <p:nvSpPr>
          <p:cNvPr id="13" name="Text 11"/>
          <p:cNvSpPr/>
          <p:nvPr/>
        </p:nvSpPr>
        <p:spPr>
          <a:xfrm>
            <a:off x="6756400" y="4033521"/>
            <a:ext cx="47614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2EC"/>
                </a:solidFill>
                <a:latin typeface="Inter Tight" pitchFamily="34" charset="0"/>
                <a:ea typeface="Inter Tight" pitchFamily="34" charset="-122"/>
                <a:cs typeface="Inter Tight" pitchFamily="34" charset="-120"/>
              </a:rPr>
              <a:t>Range only</a:t>
            </a:r>
            <a:endParaRPr lang="en-US" sz="2000" dirty="0"/>
          </a:p>
        </p:txBody>
      </p:sp>
      <p:sp>
        <p:nvSpPr>
          <p:cNvPr id="14" name="Text 12"/>
          <p:cNvSpPr/>
          <p:nvPr/>
        </p:nvSpPr>
        <p:spPr>
          <a:xfrm>
            <a:off x="6756400" y="4389121"/>
            <a:ext cx="4761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7CE"/>
                </a:solidFill>
                <a:latin typeface="Inter" pitchFamily="34" charset="0"/>
                <a:ea typeface="Inter" pitchFamily="34" charset="-122"/>
                <a:cs typeface="Inter" pitchFamily="34" charset="-120"/>
              </a:rPr>
              <a:t>In our notes, battery health is only ever described as km per full charge.</a:t>
            </a:r>
            <a:endParaRPr lang="en-US" sz="1200" dirty="0"/>
          </a:p>
        </p:txBody>
      </p:sp>
      <p:sp>
        <p:nvSpPr>
          <p:cNvPr id="15" name="Shape 13"/>
          <p:cNvSpPr/>
          <p:nvPr/>
        </p:nvSpPr>
        <p:spPr>
          <a:xfrm>
            <a:off x="831850" y="5069839"/>
            <a:ext cx="0" cy="548640"/>
          </a:xfrm>
          <a:prstGeom prst="line">
            <a:avLst/>
          </a:prstGeom>
          <a:noFill/>
          <a:ln w="38100">
            <a:solidFill>
              <a:srgbClr val="8FAAF2"/>
            </a:solidFill>
            <a:prstDash val="solid"/>
          </a:ln>
        </p:spPr>
      </p:sp>
      <p:sp>
        <p:nvSpPr>
          <p:cNvPr id="16" name="Text 14"/>
          <p:cNvSpPr/>
          <p:nvPr/>
        </p:nvSpPr>
        <p:spPr>
          <a:xfrm>
            <a:off x="1026160" y="5095239"/>
            <a:ext cx="1066363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2EC"/>
                </a:solidFill>
                <a:latin typeface="Inter" pitchFamily="34" charset="0"/>
                <a:ea typeface="Inter" pitchFamily="34" charset="-122"/>
                <a:cs typeface="Inter" pitchFamily="34" charset="-120"/>
              </a:rPr>
              <a:t>Why it matters: how a pack is charged may change how fast it ages, and retired lithium packs may suit garage storage. Both are hypotheses to test, not findings.</a:t>
            </a:r>
            <a:endParaRPr lang="en-US" sz="1400" dirty="0"/>
          </a:p>
        </p:txBody>
      </p:sp>
      <p:sp>
        <p:nvSpPr>
          <p:cNvPr id="17" name="Text 15"/>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8"/>
                </a:solidFill>
                <a:latin typeface="Inter" pitchFamily="34" charset="0"/>
                <a:ea typeface="Inter" pitchFamily="34" charset="-122"/>
                <a:cs typeface="Inter" pitchFamily="34" charset="-120"/>
              </a:rPr>
              <a:t>ChargeFlow · Field findings from Varanasi</a:t>
            </a:r>
            <a:endParaRPr lang="en-US" sz="1200" dirty="0"/>
          </a:p>
        </p:txBody>
      </p:sp>
      <p:sp>
        <p:nvSpPr>
          <p:cNvPr id="18" name="Text 16"/>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8"/>
                </a:solidFill>
                <a:latin typeface="Inter" pitchFamily="34" charset="0"/>
                <a:ea typeface="Inter" pitchFamily="34" charset="-122"/>
                <a:cs typeface="Inter" pitchFamily="34" charset="-120"/>
              </a:rPr>
              <a:t>06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WHAT WE BUILT</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In simulation, ChargeFlow stays under the limit</a:t>
            </a:r>
            <a:endParaRPr lang="en-US" sz="3200" dirty="0"/>
          </a:p>
        </p:txBody>
      </p:sp>
      <p:sp>
        <p:nvSpPr>
          <p:cNvPr id="4" name="Shape 2"/>
          <p:cNvSpPr/>
          <p:nvPr/>
        </p:nvSpPr>
        <p:spPr>
          <a:xfrm>
            <a:off x="815975" y="1882775"/>
            <a:ext cx="3380264" cy="1649730"/>
          </a:xfrm>
          <a:prstGeom prst="roundRect">
            <a:avLst>
              <a:gd name="adj" fmla="val 2887"/>
            </a:avLst>
          </a:prstGeom>
          <a:solidFill>
            <a:srgbClr val="FFFFFF"/>
          </a:solidFill>
          <a:ln w="6350">
            <a:solidFill>
              <a:srgbClr val="D6D2C7"/>
            </a:solidFill>
            <a:prstDash val="solid"/>
          </a:ln>
        </p:spPr>
      </p:sp>
      <p:sp>
        <p:nvSpPr>
          <p:cNvPr id="5" name="Text 3"/>
          <p:cNvSpPr/>
          <p:nvPr/>
        </p:nvSpPr>
        <p:spPr>
          <a:xfrm>
            <a:off x="1021080" y="2087882"/>
            <a:ext cx="30591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BM Plex Mono" pitchFamily="49" charset="0"/>
                <a:ea typeface="IBM Plex Mono" pitchFamily="49" charset="-122"/>
                <a:cs typeface="IBM Plex Mono" pitchFamily="49" charset="-120"/>
              </a:rPr>
              <a:t>Peak grid demand (kW)</a:t>
            </a:r>
            <a:endParaRPr lang="en-US" sz="1200" dirty="0"/>
          </a:p>
        </p:txBody>
      </p:sp>
      <p:sp>
        <p:nvSpPr>
          <p:cNvPr id="6" name="Text 4"/>
          <p:cNvSpPr/>
          <p:nvPr/>
        </p:nvSpPr>
        <p:spPr>
          <a:xfrm>
            <a:off x="1021080" y="2377439"/>
            <a:ext cx="3059155"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7D6"/>
                </a:solidFill>
                <a:latin typeface="Inter Tight" pitchFamily="34" charset="0"/>
                <a:ea typeface="Inter Tight" pitchFamily="34" charset="-122"/>
                <a:cs typeface="Inter Tight" pitchFamily="34" charset="-120"/>
              </a:rPr>
              <a:t>10.5 → 6.6</a:t>
            </a:r>
            <a:endParaRPr lang="en-US" sz="3200" dirty="0"/>
          </a:p>
        </p:txBody>
      </p:sp>
      <p:sp>
        <p:nvSpPr>
          <p:cNvPr id="7" name="Text 5"/>
          <p:cNvSpPr/>
          <p:nvPr/>
        </p:nvSpPr>
        <p:spPr>
          <a:xfrm>
            <a:off x="1021080" y="2900682"/>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Plug-in-and-charge vs ChargeFlow, against a 7 kW sanctioned load.</a:t>
            </a:r>
            <a:endParaRPr lang="en-US" sz="1200" dirty="0"/>
          </a:p>
        </p:txBody>
      </p:sp>
      <p:sp>
        <p:nvSpPr>
          <p:cNvPr id="8" name="Shape 6"/>
          <p:cNvSpPr/>
          <p:nvPr/>
        </p:nvSpPr>
        <p:spPr>
          <a:xfrm>
            <a:off x="4405789" y="1882775"/>
            <a:ext cx="3380343" cy="1649730"/>
          </a:xfrm>
          <a:prstGeom prst="roundRect">
            <a:avLst>
              <a:gd name="adj" fmla="val 2887"/>
            </a:avLst>
          </a:prstGeom>
          <a:solidFill>
            <a:srgbClr val="FFFFFF"/>
          </a:solidFill>
          <a:ln w="6350">
            <a:solidFill>
              <a:srgbClr val="D6D2C7"/>
            </a:solidFill>
            <a:prstDash val="solid"/>
          </a:ln>
        </p:spPr>
      </p:sp>
      <p:sp>
        <p:nvSpPr>
          <p:cNvPr id="9" name="Text 7"/>
          <p:cNvSpPr/>
          <p:nvPr/>
        </p:nvSpPr>
        <p:spPr>
          <a:xfrm>
            <a:off x="4610894" y="2087882"/>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BM Plex Mono" pitchFamily="49" charset="0"/>
                <a:ea typeface="IBM Plex Mono" pitchFamily="49" charset="-122"/>
                <a:cs typeface="IBM Plex Mono" pitchFamily="49" charset="-120"/>
              </a:rPr>
              <a:t>Hours over the limit</a:t>
            </a:r>
            <a:endParaRPr lang="en-US" sz="1200" dirty="0"/>
          </a:p>
        </p:txBody>
      </p:sp>
      <p:sp>
        <p:nvSpPr>
          <p:cNvPr id="10" name="Text 8"/>
          <p:cNvSpPr/>
          <p:nvPr/>
        </p:nvSpPr>
        <p:spPr>
          <a:xfrm>
            <a:off x="4610894" y="2377439"/>
            <a:ext cx="3059237"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7D6"/>
                </a:solidFill>
                <a:latin typeface="Inter Tight" pitchFamily="34" charset="0"/>
                <a:ea typeface="Inter Tight" pitchFamily="34" charset="-122"/>
                <a:cs typeface="Inter Tight" pitchFamily="34" charset="-120"/>
              </a:rPr>
              <a:t>4.25 → 0</a:t>
            </a:r>
            <a:endParaRPr lang="en-US" sz="3200" dirty="0"/>
          </a:p>
        </p:txBody>
      </p:sp>
      <p:sp>
        <p:nvSpPr>
          <p:cNvPr id="11" name="Text 9"/>
          <p:cNvSpPr/>
          <p:nvPr/>
        </p:nvSpPr>
        <p:spPr>
          <a:xfrm>
            <a:off x="4610894" y="290068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Plug-in-and-charge stays over for 4 h 15 min; ChargeFlow never goes over.</a:t>
            </a:r>
            <a:endParaRPr lang="en-US" sz="1200" dirty="0"/>
          </a:p>
        </p:txBody>
      </p:sp>
      <p:sp>
        <p:nvSpPr>
          <p:cNvPr id="12" name="Shape 10"/>
          <p:cNvSpPr/>
          <p:nvPr/>
        </p:nvSpPr>
        <p:spPr>
          <a:xfrm>
            <a:off x="7995682" y="1882775"/>
            <a:ext cx="3380343" cy="1649730"/>
          </a:xfrm>
          <a:prstGeom prst="roundRect">
            <a:avLst>
              <a:gd name="adj" fmla="val 2887"/>
            </a:avLst>
          </a:prstGeom>
          <a:solidFill>
            <a:srgbClr val="FFFFFF"/>
          </a:solidFill>
          <a:ln w="6350">
            <a:solidFill>
              <a:srgbClr val="D6D2C7"/>
            </a:solidFill>
            <a:prstDash val="solid"/>
          </a:ln>
        </p:spPr>
      </p:sp>
      <p:sp>
        <p:nvSpPr>
          <p:cNvPr id="13" name="Text 11"/>
          <p:cNvSpPr/>
          <p:nvPr/>
        </p:nvSpPr>
        <p:spPr>
          <a:xfrm>
            <a:off x="8200787" y="2087882"/>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BM Plex Mono" pitchFamily="49" charset="0"/>
                <a:ea typeface="IBM Plex Mono" pitchFamily="49" charset="-122"/>
                <a:cs typeface="IBM Plex Mono" pitchFamily="49" charset="-120"/>
              </a:rPr>
              <a:t>Ready by departure</a:t>
            </a:r>
            <a:endParaRPr lang="en-US" sz="1200" dirty="0"/>
          </a:p>
        </p:txBody>
      </p:sp>
      <p:sp>
        <p:nvSpPr>
          <p:cNvPr id="14" name="Text 12"/>
          <p:cNvSpPr/>
          <p:nvPr/>
        </p:nvSpPr>
        <p:spPr>
          <a:xfrm>
            <a:off x="8200787" y="2377439"/>
            <a:ext cx="3059237"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7D6"/>
                </a:solidFill>
                <a:latin typeface="Inter Tight" pitchFamily="34" charset="0"/>
                <a:ea typeface="Inter Tight" pitchFamily="34" charset="-122"/>
                <a:cs typeface="Inter Tight" pitchFamily="34" charset="-120"/>
              </a:rPr>
              <a:t>10 of 10</a:t>
            </a:r>
            <a:endParaRPr lang="en-US" sz="3200" dirty="0"/>
          </a:p>
        </p:txBody>
      </p:sp>
      <p:sp>
        <p:nvSpPr>
          <p:cNvPr id="15" name="Text 13"/>
          <p:cNvSpPr/>
          <p:nvPr/>
        </p:nvSpPr>
        <p:spPr>
          <a:xfrm>
            <a:off x="8200787" y="290068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Plug-in-and-charge also reaches 10 of 10, but only by overloading the building.</a:t>
            </a:r>
            <a:endParaRPr lang="en-US" sz="1200" dirty="0"/>
          </a:p>
        </p:txBody>
      </p:sp>
      <p:sp>
        <p:nvSpPr>
          <p:cNvPr id="16" name="Text 14"/>
          <p:cNvSpPr/>
          <p:nvPr/>
        </p:nvSpPr>
        <p:spPr>
          <a:xfrm>
            <a:off x="812800" y="3738882"/>
            <a:ext cx="5798741" cy="1056640"/>
          </a:xfrm>
          <a:prstGeom prst="roundRect">
            <a:avLst>
              <a:gd name="adj" fmla="val 4808"/>
            </a:avLst>
          </a:prstGeom>
          <a:solidFill>
            <a:srgbClr val="E3E9F8"/>
          </a:solidFill>
          <a:ln/>
        </p:spPr>
        <p:txBody>
          <a:bodyPr wrap="square" lIns="188321" tIns="188321" rIns="26551" bIns="188321" rtlCol="0" anchor="t">
            <a:normAutofit/>
          </a:bodyPr>
          <a:lstStyle/>
          <a:p>
            <a:pPr algn="l" indent="0" marL="0">
              <a:lnSpc>
                <a:spcPts val="2400"/>
              </a:lnSpc>
              <a:buNone/>
            </a:pPr>
            <a:r>
              <a:rPr lang="en-US" sz="2000" b="1" dirty="0">
                <a:solidFill>
                  <a:srgbClr val="171A20"/>
                </a:solidFill>
                <a:latin typeface="Inter Tight" pitchFamily="34" charset="0"/>
                <a:ea typeface="Inter Tight" pitchFamily="34" charset="-122"/>
                <a:cs typeface="Inter Tight" pitchFamily="34" charset="-120"/>
              </a:rPr>
              <a:t>At 6 kW, grid only gets 5 of 10 ready. With solar and a second-life pack: 10 of 10.</a:t>
            </a:r>
            <a:endParaRPr lang="en-US" sz="2000" dirty="0"/>
          </a:p>
        </p:txBody>
      </p:sp>
      <p:sp>
        <p:nvSpPr>
          <p:cNvPr id="17" name="Text 15"/>
          <p:cNvSpPr/>
          <p:nvPr/>
        </p:nvSpPr>
        <p:spPr>
          <a:xfrm>
            <a:off x="6817916" y="3742057"/>
            <a:ext cx="4558109" cy="1050290"/>
          </a:xfrm>
          <a:prstGeom prst="roundRect">
            <a:avLst>
              <a:gd name="adj" fmla="val 4534"/>
            </a:avLst>
          </a:prstGeom>
          <a:solidFill>
            <a:srgbClr val="FFFFFF"/>
          </a:solidFill>
          <a:ln w="6350">
            <a:solidFill>
              <a:srgbClr val="D6D2C7"/>
            </a:solidFill>
            <a:prstDash val="solid"/>
          </a:ln>
        </p:spPr>
        <p:txBody>
          <a:bodyPr wrap="square" lIns="191156" tIns="191156" rIns="66719" bIns="165756"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Solar covers 19% of the night load (5 kW of panels, 15 kWh pack at 75% health, clear sky): a supplement to the grid.</a:t>
            </a:r>
            <a:endParaRPr lang="en-US" sz="1200" dirty="0"/>
          </a:p>
        </p:txBody>
      </p:sp>
      <p:sp>
        <p:nvSpPr>
          <p:cNvPr id="18" name="Text 16"/>
          <p:cNvSpPr/>
          <p:nvPr/>
        </p:nvSpPr>
        <p:spPr>
          <a:xfrm>
            <a:off x="812800" y="49987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Simulated: 10 rickshaws, 7 kW sanctioned load (assumed), generated arrival and departure times. Not field measurements. We run it live next.</a:t>
            </a:r>
            <a:endParaRPr lang="en-US" sz="1200" dirty="0"/>
          </a:p>
        </p:txBody>
      </p:sp>
      <p:sp>
        <p:nvSpPr>
          <p:cNvPr id="19" name="Text 17"/>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20" name="Text 18"/>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HONEST SCOPE</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Five things we have not verified yet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407920"/>
        </p:xfrm>
        <a:graphic>
          <a:graphicData uri="http://schemas.openxmlformats.org/drawingml/2006/table">
            <a:tbl>
              <a:tblPr/>
              <a:tblGrid>
                <a:gridCol w="4011371"/>
                <a:gridCol w="6544869"/>
              </a:tblGrid>
              <a:tr h="330200">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What we have not verified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Why it matters</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Sanctioned load and breaker trips at a garage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Our central claim is that ten chargers exceed the connection. The visit did not ask this.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Charger rating, and whether it cuts off when full</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Sets the real load per vehicle and how much energy float charging wastes.</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Energy per charge: 7–8 units from H, one driver</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The simulator assumes about 5 kWh per vehicle, so it may understate the load.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356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Whether the garage connection is residential</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Decides if PM Surya Ghar rooftop solar can apply. Even a 3 kW system gives about 12 kWh a day, against 70–80 kWh of nightly charging if H's figure holds.</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The "morning charging" subsidy we heard about</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Unclear whether it is a tariff or a purchase subsidy. Either could change the owner's electricity cost.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6" name="Text 3"/>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NEXT</a:t>
            </a:r>
            <a:endParaRPr lang="en-US" sz="1200" dirty="0"/>
          </a:p>
        </p:txBody>
      </p:sp>
      <p:sp>
        <p:nvSpPr>
          <p:cNvPr id="3" name="Text 1"/>
          <p:cNvSpPr/>
          <p:nvPr>
            <p:ph type="title"/>
          </p:nvPr>
        </p:nvSpPr>
        <p:spPr>
          <a:xfrm>
            <a:off x="812800" y="1280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Next: measure one garage for a week</a:t>
            </a:r>
            <a:endParaRPr lang="en-US" sz="3200" dirty="0"/>
          </a:p>
        </p:txBody>
      </p:sp>
      <p:sp>
        <p:nvSpPr>
          <p:cNvPr id="4" name="Shape 2"/>
          <p:cNvSpPr/>
          <p:nvPr/>
        </p:nvSpPr>
        <p:spPr>
          <a:xfrm>
            <a:off x="815975" y="1984375"/>
            <a:ext cx="2482850" cy="1791970"/>
          </a:xfrm>
          <a:prstGeom prst="roundRect">
            <a:avLst>
              <a:gd name="adj" fmla="val 2658"/>
            </a:avLst>
          </a:prstGeom>
          <a:solidFill>
            <a:srgbClr val="FFFFFF"/>
          </a:solidFill>
          <a:ln w="6350">
            <a:solidFill>
              <a:srgbClr val="D6D2C7"/>
            </a:solidFill>
            <a:prstDash val="solid"/>
          </a:ln>
        </p:spPr>
      </p:sp>
      <p:sp>
        <p:nvSpPr>
          <p:cNvPr id="5" name="Text 3"/>
          <p:cNvSpPr/>
          <p:nvPr/>
        </p:nvSpPr>
        <p:spPr>
          <a:xfrm>
            <a:off x="995680" y="2164079"/>
            <a:ext cx="2187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7D6"/>
                </a:solidFill>
                <a:latin typeface="IBM Plex Mono" pitchFamily="49" charset="0"/>
                <a:ea typeface="IBM Plex Mono" pitchFamily="49" charset="-122"/>
                <a:cs typeface="IBM Plex Mono" pitchFamily="49" charset="-120"/>
              </a:rPr>
              <a:t>Week 1</a:t>
            </a:r>
            <a:endParaRPr lang="en-US" sz="1200" dirty="0"/>
          </a:p>
        </p:txBody>
      </p:sp>
      <p:sp>
        <p:nvSpPr>
          <p:cNvPr id="6" name="Text 4"/>
          <p:cNvSpPr/>
          <p:nvPr/>
        </p:nvSpPr>
        <p:spPr>
          <a:xfrm>
            <a:off x="995680" y="2453642"/>
            <a:ext cx="218714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Measure</a:t>
            </a:r>
            <a:endParaRPr lang="en-US" sz="1400" dirty="0"/>
          </a:p>
        </p:txBody>
      </p:sp>
      <p:sp>
        <p:nvSpPr>
          <p:cNvPr id="7" name="Text 5"/>
          <p:cNvSpPr/>
          <p:nvPr/>
        </p:nvSpPr>
        <p:spPr>
          <a:xfrm>
            <a:off x="995680" y="2743200"/>
            <a:ext cx="218714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Put smart plugs on one garage's chargers: real kW, start and stop times, meter readings.</a:t>
            </a:r>
            <a:endParaRPr lang="en-US" sz="1200" dirty="0"/>
          </a:p>
        </p:txBody>
      </p:sp>
      <p:sp>
        <p:nvSpPr>
          <p:cNvPr id="8" name="Shape 6"/>
          <p:cNvSpPr/>
          <p:nvPr/>
        </p:nvSpPr>
        <p:spPr>
          <a:xfrm>
            <a:off x="3508375" y="1984375"/>
            <a:ext cx="2482850" cy="1791970"/>
          </a:xfrm>
          <a:prstGeom prst="roundRect">
            <a:avLst>
              <a:gd name="adj" fmla="val 2658"/>
            </a:avLst>
          </a:prstGeom>
          <a:solidFill>
            <a:srgbClr val="FFFFFF"/>
          </a:solidFill>
          <a:ln w="6350">
            <a:solidFill>
              <a:srgbClr val="D6D2C7"/>
            </a:solidFill>
            <a:prstDash val="solid"/>
          </a:ln>
        </p:spPr>
      </p:sp>
      <p:sp>
        <p:nvSpPr>
          <p:cNvPr id="9" name="Text 7"/>
          <p:cNvSpPr/>
          <p:nvPr/>
        </p:nvSpPr>
        <p:spPr>
          <a:xfrm>
            <a:off x="3688080" y="2164079"/>
            <a:ext cx="2187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7D6"/>
                </a:solidFill>
                <a:latin typeface="IBM Plex Mono" pitchFamily="49" charset="0"/>
                <a:ea typeface="IBM Plex Mono" pitchFamily="49" charset="-122"/>
                <a:cs typeface="IBM Plex Mono" pitchFamily="49" charset="-120"/>
              </a:rPr>
              <a:t>Week 2</a:t>
            </a:r>
            <a:endParaRPr lang="en-US" sz="1200" dirty="0"/>
          </a:p>
        </p:txBody>
      </p:sp>
      <p:sp>
        <p:nvSpPr>
          <p:cNvPr id="10" name="Text 8"/>
          <p:cNvSpPr/>
          <p:nvPr/>
        </p:nvSpPr>
        <p:spPr>
          <a:xfrm>
            <a:off x="3688080" y="2453642"/>
            <a:ext cx="218714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Calibrate</a:t>
            </a:r>
            <a:endParaRPr lang="en-US" sz="1400" dirty="0"/>
          </a:p>
        </p:txBody>
      </p:sp>
      <p:sp>
        <p:nvSpPr>
          <p:cNvPr id="11" name="Text 9"/>
          <p:cNvSpPr/>
          <p:nvPr/>
        </p:nvSpPr>
        <p:spPr>
          <a:xfrm>
            <a:off x="3688080" y="2743200"/>
            <a:ext cx="218714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Replace our assumed pack, charger and household figures with the measured ones.</a:t>
            </a:r>
            <a:endParaRPr lang="en-US" sz="1200" dirty="0"/>
          </a:p>
        </p:txBody>
      </p:sp>
      <p:sp>
        <p:nvSpPr>
          <p:cNvPr id="12" name="Shape 10"/>
          <p:cNvSpPr/>
          <p:nvPr/>
        </p:nvSpPr>
        <p:spPr>
          <a:xfrm>
            <a:off x="6200775" y="1984375"/>
            <a:ext cx="2482850" cy="1791970"/>
          </a:xfrm>
          <a:prstGeom prst="roundRect">
            <a:avLst>
              <a:gd name="adj" fmla="val 2658"/>
            </a:avLst>
          </a:prstGeom>
          <a:solidFill>
            <a:srgbClr val="FFFFFF"/>
          </a:solidFill>
          <a:ln w="6350">
            <a:solidFill>
              <a:srgbClr val="D6D2C7"/>
            </a:solidFill>
            <a:prstDash val="solid"/>
          </a:ln>
        </p:spPr>
      </p:sp>
      <p:sp>
        <p:nvSpPr>
          <p:cNvPr id="13" name="Text 11"/>
          <p:cNvSpPr/>
          <p:nvPr/>
        </p:nvSpPr>
        <p:spPr>
          <a:xfrm>
            <a:off x="6380480" y="2164079"/>
            <a:ext cx="2187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7D6"/>
                </a:solidFill>
                <a:latin typeface="IBM Plex Mono" pitchFamily="49" charset="0"/>
                <a:ea typeface="IBM Plex Mono" pitchFamily="49" charset="-122"/>
                <a:cs typeface="IBM Plex Mono" pitchFamily="49" charset="-120"/>
              </a:rPr>
              <a:t>Week 3</a:t>
            </a:r>
            <a:endParaRPr lang="en-US" sz="1200" dirty="0"/>
          </a:p>
        </p:txBody>
      </p:sp>
      <p:sp>
        <p:nvSpPr>
          <p:cNvPr id="14" name="Text 12"/>
          <p:cNvSpPr/>
          <p:nvPr/>
        </p:nvSpPr>
        <p:spPr>
          <a:xfrm>
            <a:off x="6380480" y="2453642"/>
            <a:ext cx="218714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Trial</a:t>
            </a:r>
            <a:endParaRPr lang="en-US" sz="1400" dirty="0"/>
          </a:p>
        </p:txBody>
      </p:sp>
      <p:sp>
        <p:nvSpPr>
          <p:cNvPr id="15" name="Text 13"/>
          <p:cNvSpPr/>
          <p:nvPr/>
        </p:nvSpPr>
        <p:spPr>
          <a:xfrm>
            <a:off x="6380480" y="2743200"/>
            <a:ext cx="218714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Run the schedule on some chargers and compare it with the owner's usual night.</a:t>
            </a:r>
            <a:endParaRPr lang="en-US" sz="1200" dirty="0"/>
          </a:p>
        </p:txBody>
      </p:sp>
      <p:sp>
        <p:nvSpPr>
          <p:cNvPr id="16" name="Shape 14"/>
          <p:cNvSpPr/>
          <p:nvPr/>
        </p:nvSpPr>
        <p:spPr>
          <a:xfrm>
            <a:off x="8893175" y="1984375"/>
            <a:ext cx="2482850" cy="1791970"/>
          </a:xfrm>
          <a:prstGeom prst="roundRect">
            <a:avLst>
              <a:gd name="adj" fmla="val 2658"/>
            </a:avLst>
          </a:prstGeom>
          <a:solidFill>
            <a:srgbClr val="FFFFFF"/>
          </a:solidFill>
          <a:ln w="6350">
            <a:solidFill>
              <a:srgbClr val="D6D2C7"/>
            </a:solidFill>
            <a:prstDash val="solid"/>
          </a:ln>
        </p:spPr>
      </p:sp>
      <p:sp>
        <p:nvSpPr>
          <p:cNvPr id="17" name="Text 15"/>
          <p:cNvSpPr/>
          <p:nvPr/>
        </p:nvSpPr>
        <p:spPr>
          <a:xfrm>
            <a:off x="9072880" y="2164079"/>
            <a:ext cx="2187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7D6"/>
                </a:solidFill>
                <a:latin typeface="IBM Plex Mono" pitchFamily="49" charset="0"/>
                <a:ea typeface="IBM Plex Mono" pitchFamily="49" charset="-122"/>
                <a:cs typeface="IBM Plex Mono" pitchFamily="49" charset="-120"/>
              </a:rPr>
              <a:t>After</a:t>
            </a:r>
            <a:endParaRPr lang="en-US" sz="1200" dirty="0"/>
          </a:p>
        </p:txBody>
      </p:sp>
      <p:sp>
        <p:nvSpPr>
          <p:cNvPr id="18" name="Text 16"/>
          <p:cNvSpPr/>
          <p:nvPr/>
        </p:nvSpPr>
        <p:spPr>
          <a:xfrm>
            <a:off x="9072880" y="2453642"/>
            <a:ext cx="218714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A20"/>
                </a:solidFill>
                <a:latin typeface="Inter" pitchFamily="34" charset="0"/>
                <a:ea typeface="Inter" pitchFamily="34" charset="-122"/>
                <a:cs typeface="Inter" pitchFamily="34" charset="-120"/>
              </a:rPr>
              <a:t>Solar and second life</a:t>
            </a:r>
            <a:endParaRPr lang="en-US" sz="1400" dirty="0"/>
          </a:p>
        </p:txBody>
      </p:sp>
      <p:sp>
        <p:nvSpPr>
          <p:cNvPr id="19" name="Text 17"/>
          <p:cNvSpPr/>
          <p:nvPr/>
        </p:nvSpPr>
        <p:spPr>
          <a:xfrm>
            <a:off x="9072880" y="2743200"/>
            <a:ext cx="218714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Inter" pitchFamily="34" charset="0"/>
                <a:ea typeface="Inter" pitchFamily="34" charset="-122"/>
                <a:cs typeface="Inter" pitchFamily="34" charset="-120"/>
              </a:rPr>
              <a:t>Check the connection type and PM Surya Ghar eligibility, and test retired lithium packs as storage.</a:t>
            </a:r>
            <a:endParaRPr lang="en-US" sz="1200" dirty="0"/>
          </a:p>
        </p:txBody>
      </p:sp>
      <p:sp>
        <p:nvSpPr>
          <p:cNvPr id="20" name="Text 18"/>
          <p:cNvSpPr/>
          <p:nvPr/>
        </p:nvSpPr>
        <p:spPr>
          <a:xfrm>
            <a:off x="812800" y="40335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Proposed plan; it depends on a garage owner agreeing.</a:t>
            </a:r>
            <a:endParaRPr lang="en-US" sz="1200" dirty="0"/>
          </a:p>
        </p:txBody>
      </p:sp>
      <p:sp>
        <p:nvSpPr>
          <p:cNvPr id="21" name="Shape 19"/>
          <p:cNvSpPr/>
          <p:nvPr/>
        </p:nvSpPr>
        <p:spPr>
          <a:xfrm>
            <a:off x="831850" y="4500879"/>
            <a:ext cx="0" cy="299720"/>
          </a:xfrm>
          <a:prstGeom prst="line">
            <a:avLst/>
          </a:prstGeom>
          <a:noFill/>
          <a:ln w="38100">
            <a:solidFill>
              <a:srgbClr val="2457D6"/>
            </a:solidFill>
            <a:prstDash val="solid"/>
          </a:ln>
        </p:spPr>
      </p:sp>
      <p:sp>
        <p:nvSpPr>
          <p:cNvPr id="22" name="Text 20"/>
          <p:cNvSpPr/>
          <p:nvPr/>
        </p:nvSpPr>
        <p:spPr>
          <a:xfrm>
            <a:off x="1026160" y="4526279"/>
            <a:ext cx="1066363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1A20"/>
                </a:solidFill>
                <a:latin typeface="Inter" pitchFamily="34" charset="0"/>
                <a:ea typeface="Inter" pitchFamily="34" charset="-122"/>
                <a:cs typeface="Inter" pitchFamily="34" charset="-120"/>
              </a:rPr>
              <a:t>[Team name] · [Member 1: role] · [Member 2: role] · [Member 3: role]</a:t>
            </a:r>
            <a:endParaRPr lang="en-US" sz="1400" dirty="0"/>
          </a:p>
        </p:txBody>
      </p:sp>
      <p:sp>
        <p:nvSpPr>
          <p:cNvPr id="23" name="Text 21"/>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24" name="Text 2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09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457D6"/>
                </a:solidFill>
                <a:latin typeface="IBM Plex Mono" pitchFamily="49" charset="0"/>
                <a:ea typeface="IBM Plex Mono" pitchFamily="49" charset="-122"/>
                <a:cs typeface="IBM Plex Mono" pitchFamily="49" charset="-120"/>
              </a:rPr>
              <a:t>BACKUP</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1A20"/>
                </a:solidFill>
                <a:latin typeface="Inter Tight" pitchFamily="34" charset="0"/>
                <a:ea typeface="Inter Tight" pitchFamily="34" charset="-122"/>
                <a:cs typeface="Inter Tight" pitchFamily="34" charset="-120"/>
              </a:rPr>
              <a:t>Field data against our simulator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621280"/>
        </p:xfrm>
        <a:graphic>
          <a:graphicData uri="http://schemas.openxmlformats.org/drawingml/2006/table">
            <a:tbl>
              <a:tblPr/>
              <a:tblGrid>
                <a:gridCol w="1688998"/>
                <a:gridCol w="2850185"/>
                <a:gridCol w="2955747"/>
                <a:gridCol w="3061310"/>
              </a:tblGrid>
              <a:tr h="330200">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Parameter</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Simulator assumed</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Drivers reported</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c>
                  <a:txBody>
                    <a:bodyPr/>
                    <a:lstStyle/>
                    <a:p>
                      <a:pPr indent="0" marL="0">
                        <a:lnSpc>
                          <a:spcPts val="1680"/>
                        </a:lnSpc>
                        <a:buNone/>
                      </a:pPr>
                      <a:r>
                        <a:rPr lang="en-US" sz="1200" b="1" dirty="0">
                          <a:solidFill>
                            <a:srgbClr val="171A20"/>
                          </a:solidFill>
                          <a:latin typeface="Inter" pitchFamily="34" charset="0"/>
                          <a:ea typeface="Inter" pitchFamily="34" charset="-122"/>
                          <a:cs typeface="Inter" pitchFamily="34" charset="-120"/>
                        </a:rPr>
                        <a:t>What we do about it</a:t>
                      </a:r>
                      <a:endParaRPr lang="en-US" sz="1200" dirty="0">
                        <a:latin typeface="Inter" charset="0"/>
                        <a:ea typeface="Inter" charset="0"/>
                        <a:cs typeface="Inter" charset="0"/>
                      </a:endParaRPr>
                    </a:p>
                  </a:txBody>
                  <a:tcPr marL="53340" marR="53340" marT="53340" marB="53340" anchor="t">
                    <a:lnL w="12700" cap="flat" cmpd="sng" algn="ctr">
                      <a:solidFill>
                        <a:srgbClr val="B5B2AB"/>
                      </a:solidFill>
                      <a:prstDash val="solid"/>
                      <a:round/>
                      <a:headEnd type="none" w="med" len="med"/>
                      <a:tailEnd type="none" w="med" len="med"/>
                    </a:lnL>
                    <a:lnR w="12700" cap="flat" cmpd="sng" algn="ctr">
                      <a:solidFill>
                        <a:srgbClr val="B5B2A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2AB"/>
                      </a:solidFill>
                      <a:prstDash val="solid"/>
                      <a:round/>
                      <a:headEnd type="none" w="med" len="med"/>
                      <a:tailEnd type="none" w="med" len="med"/>
                    </a:lnB>
                    <a:solidFill>
                      <a:srgbClr val="E3DFD6"/>
                    </a:solidFill>
                  </a:tcPr>
                </a:tc>
              </a:tr>
              <a:tr h="54356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Plug-in time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Arrivals 19:30–23:30, mean about 21:30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Charging starts 11 pm–midnight for six of eight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Shift the model later; ask if drivers plug in before charging starts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2A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356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Departure time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05:30–08:00; simulation ends at 09:00</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8–11 am</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Extend the simulation to 11:00</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Charge time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 about 8.5–9.8 h; lithium not modelled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Lead-acid 8–10 h; lithium 3–6 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Matches for lead-acid; add a lithium option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Energy per vehicle</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About 5 kWh from the grid per night</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7–8 units a day (H, one driver)</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Confirm with a meter reading</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Sanctioned load</a:t>
                      </a:r>
                      <a:endParaRPr lang="en-US" sz="1200" dirty="0">
                        <a:latin typeface="Inter" charset="0"/>
                        <a:ea typeface="Inter" charset="0"/>
                        <a:cs typeface="Inter"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7 kW placeholder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Not collected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1A20"/>
                          </a:solidFill>
                          <a:latin typeface="Inter" pitchFamily="34" charset="0"/>
                          <a:ea typeface="Inter" pitchFamily="34" charset="-122"/>
                          <a:cs typeface="Inter" pitchFamily="34" charset="-120"/>
                        </a:rPr>
                        <a:t>Ask a garage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ChargeFlow · Field findings from Varanasi</a:t>
            </a:r>
            <a:endParaRPr lang="en-US" sz="1200" dirty="0"/>
          </a:p>
        </p:txBody>
      </p:sp>
      <p:sp>
        <p:nvSpPr>
          <p:cNvPr id="6" name="Text 3"/>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46C"/>
                </a:solidFill>
                <a:latin typeface="Inter" pitchFamily="34" charset="0"/>
                <a:ea typeface="Inter" pitchFamily="34" charset="-122"/>
                <a:cs typeface="Inter" pitchFamily="34" charset="-120"/>
              </a:rPr>
              <a:t>10 / 10</a:t>
            </a:r>
            <a:endParaRPr lang="en-US" sz="1200" dirty="0"/>
          </a:p>
        </p:txBody>
      </p:sp>
    </p:spTree>
  </p:cSld>
  <p:clrMapOvr>
    <a:masterClrMapping/>
  </p:clrMapOvr>
</p:sld>
</file>

<file path=ppt/theme/theme1.xml><?xml version="1.0" encoding="utf-8"?>
<a:theme xmlns:a="http://schemas.openxmlformats.org/drawingml/2006/main" name="ChargeFlow Field Findings, Varanasi">
  <a:themeElements>
    <a:clrScheme name="ChargeFlow Field Findings, Varanasi">
      <a:dk1>
        <a:srgbClr val="171A20"/>
      </a:dk1>
      <a:lt1>
        <a:srgbClr val="F4F2EC"/>
      </a:lt1>
      <a:dk2>
        <a:srgbClr val="4E5053"/>
      </a:dk2>
      <a:lt2>
        <a:srgbClr val="DEDCD8"/>
      </a:lt2>
      <a:accent1>
        <a:srgbClr val="2457D6"/>
      </a:accent1>
      <a:accent2>
        <a:srgbClr val="8FAAF2"/>
      </a:accent2>
      <a:accent3>
        <a:srgbClr val="E8B730"/>
      </a:accent3>
      <a:accent4>
        <a:srgbClr val="5F646C"/>
      </a:accent4>
      <a:accent5>
        <a:srgbClr val="4A4F57"/>
      </a:accent5>
      <a:accent6>
        <a:srgbClr val="C4C7CE"/>
      </a:accent6>
      <a:hlink>
        <a:srgbClr val="0563C1"/>
      </a:hlink>
      <a:folHlink>
        <a:srgbClr val="954F72"/>
      </a:folHlink>
    </a:clrScheme>
    <a:fontScheme name="ChargeFlow Field Findings, Varanasi">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ChargeFlow Field Findings, Varanasi</dc:title>
  <dc:subject/>
  <dc:creator/>
  <cp:lastModifiedBy/>
  <cp:revision>1</cp:revision>
  <dcterms:created xsi:type="dcterms:W3CDTF">2026-10-11T03:10:34Z</dcterms:created>
  <dcterms:modified xsi:type="dcterms:W3CDTF">2026-10-11T03:10:34Z</dcterms:modified>
</cp:coreProperties>
</file>